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66" r:id="rId3"/>
    <p:sldId id="257" r:id="rId4"/>
    <p:sldId id="258" r:id="rId5"/>
    <p:sldId id="259" r:id="rId6"/>
    <p:sldId id="262" r:id="rId7"/>
    <p:sldId id="281" r:id="rId8"/>
    <p:sldId id="263" r:id="rId9"/>
    <p:sldId id="282" r:id="rId10"/>
    <p:sldId id="284" r:id="rId11"/>
    <p:sldId id="283" r:id="rId12"/>
    <p:sldId id="265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75" r:id="rId21"/>
    <p:sldId id="274" r:id="rId22"/>
    <p:sldId id="285" r:id="rId23"/>
    <p:sldId id="286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5F2426-7EDC-8FB4-F340-0C8D894E65C0}" v="240" dt="2026-01-28T23:54:03.977"/>
    <p1510:client id="{BA14BAEC-64A5-3E8F-A44B-905F1FA77D08}" v="475" dt="2026-01-29T03:51:10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A361FA-24EC-44F6-8CC7-D020030DFB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17A00E-7114-4A40-9324-A032D906613C}">
      <dgm:prSet/>
      <dgm:spPr/>
      <dgm:t>
        <a:bodyPr/>
        <a:lstStyle/>
        <a:p>
          <a:r>
            <a:rPr lang="tr-TR" b="1" baseline="0"/>
            <a:t>1. Web 1.0 -&gt; 2.0: Statik Sayfadan Yaşayan Uygulamaya</a:t>
          </a:r>
          <a:endParaRPr lang="en-US"/>
        </a:p>
      </dgm:t>
    </dgm:pt>
    <dgm:pt modelId="{F2668B95-2B61-4DBD-81CD-28865E83BD81}" type="parTrans" cxnId="{64DD28DD-D77A-4E98-8D09-C5B292DD967D}">
      <dgm:prSet/>
      <dgm:spPr/>
      <dgm:t>
        <a:bodyPr/>
        <a:lstStyle/>
        <a:p>
          <a:endParaRPr lang="en-US"/>
        </a:p>
      </dgm:t>
    </dgm:pt>
    <dgm:pt modelId="{D0589220-1203-4A92-A497-275C5BEB3CBE}" type="sibTrans" cxnId="{64DD28DD-D77A-4E98-8D09-C5B292DD967D}">
      <dgm:prSet/>
      <dgm:spPr/>
      <dgm:t>
        <a:bodyPr/>
        <a:lstStyle/>
        <a:p>
          <a:endParaRPr lang="en-US"/>
        </a:p>
      </dgm:t>
    </dgm:pt>
    <dgm:pt modelId="{728160F2-1315-49C7-B15A-345AD2806CA8}">
      <dgm:prSet/>
      <dgm:spPr/>
      <dgm:t>
        <a:bodyPr/>
        <a:lstStyle/>
        <a:p>
          <a:r>
            <a:rPr lang="tr-TR" baseline="0"/>
            <a:t>Web 1.0 (The Read-Only Web):</a:t>
          </a:r>
          <a:endParaRPr lang="en-US"/>
        </a:p>
      </dgm:t>
    </dgm:pt>
    <dgm:pt modelId="{2FF264CD-6D87-4918-86A0-C975D0632778}" type="parTrans" cxnId="{0AC6F859-118C-401B-970E-6918315F0B84}">
      <dgm:prSet/>
      <dgm:spPr/>
      <dgm:t>
        <a:bodyPr/>
        <a:lstStyle/>
        <a:p>
          <a:endParaRPr lang="en-US"/>
        </a:p>
      </dgm:t>
    </dgm:pt>
    <dgm:pt modelId="{C02995DD-5B89-448F-A124-1ED659E7EB97}" type="sibTrans" cxnId="{0AC6F859-118C-401B-970E-6918315F0B84}">
      <dgm:prSet/>
      <dgm:spPr/>
      <dgm:t>
        <a:bodyPr/>
        <a:lstStyle/>
        <a:p>
          <a:endParaRPr lang="en-US"/>
        </a:p>
      </dgm:t>
    </dgm:pt>
    <dgm:pt modelId="{2CC3083C-DC32-4757-9828-2F218FC8A478}">
      <dgm:prSet/>
      <dgm:spPr/>
      <dgm:t>
        <a:bodyPr/>
        <a:lstStyle/>
        <a:p>
          <a:r>
            <a:rPr lang="tr-TR" baseline="0"/>
            <a:t>Web 2.0 (The Social/Participatory Web):</a:t>
          </a:r>
          <a:endParaRPr lang="en-US"/>
        </a:p>
      </dgm:t>
    </dgm:pt>
    <dgm:pt modelId="{A21331D4-2483-4E67-8EB1-074612C78EF7}" type="parTrans" cxnId="{0561B259-CD2D-4132-B2D9-FBBA7D08B3CB}">
      <dgm:prSet/>
      <dgm:spPr/>
      <dgm:t>
        <a:bodyPr/>
        <a:lstStyle/>
        <a:p>
          <a:endParaRPr lang="en-US"/>
        </a:p>
      </dgm:t>
    </dgm:pt>
    <dgm:pt modelId="{BCD6ACCA-8789-4E49-AC22-D423DEF16DCF}" type="sibTrans" cxnId="{0561B259-CD2D-4132-B2D9-FBBA7D08B3CB}">
      <dgm:prSet/>
      <dgm:spPr/>
      <dgm:t>
        <a:bodyPr/>
        <a:lstStyle/>
        <a:p>
          <a:endParaRPr lang="en-US"/>
        </a:p>
      </dgm:t>
    </dgm:pt>
    <dgm:pt modelId="{99AE70C8-9755-4F76-85E8-FBC6F64640A2}">
      <dgm:prSet/>
      <dgm:spPr/>
      <dgm:t>
        <a:bodyPr/>
        <a:lstStyle/>
        <a:p>
          <a:r>
            <a:rPr lang="tr-TR" b="1" baseline="0"/>
            <a:t>2. Client-Server Modeli (Temel İletişim)</a:t>
          </a:r>
          <a:endParaRPr lang="en-US"/>
        </a:p>
      </dgm:t>
    </dgm:pt>
    <dgm:pt modelId="{CC794415-994D-467F-9C5D-5782B7F27019}" type="parTrans" cxnId="{E5F82071-884D-47FB-A71F-830A0774C981}">
      <dgm:prSet/>
      <dgm:spPr/>
      <dgm:t>
        <a:bodyPr/>
        <a:lstStyle/>
        <a:p>
          <a:endParaRPr lang="en-US"/>
        </a:p>
      </dgm:t>
    </dgm:pt>
    <dgm:pt modelId="{4E2F606C-112A-45AD-B390-295E842A8E5D}" type="sibTrans" cxnId="{E5F82071-884D-47FB-A71F-830A0774C981}">
      <dgm:prSet/>
      <dgm:spPr/>
      <dgm:t>
        <a:bodyPr/>
        <a:lstStyle/>
        <a:p>
          <a:endParaRPr lang="en-US"/>
        </a:p>
      </dgm:t>
    </dgm:pt>
    <dgm:pt modelId="{786AB19F-EC87-4786-B912-7EEDCEC8C409}">
      <dgm:prSet/>
      <dgm:spPr/>
      <dgm:t>
        <a:bodyPr/>
        <a:lstStyle/>
        <a:p>
          <a:r>
            <a:rPr lang="tr-TR" baseline="0"/>
            <a:t>İstek (Request): </a:t>
          </a:r>
          <a:endParaRPr lang="en-US"/>
        </a:p>
      </dgm:t>
    </dgm:pt>
    <dgm:pt modelId="{877B2F0C-5E10-4107-B0ED-9A2C1E59FBA2}" type="parTrans" cxnId="{D41C8DBA-9916-4A98-BDC4-0390BD6C9ECE}">
      <dgm:prSet/>
      <dgm:spPr/>
      <dgm:t>
        <a:bodyPr/>
        <a:lstStyle/>
        <a:p>
          <a:endParaRPr lang="en-US"/>
        </a:p>
      </dgm:t>
    </dgm:pt>
    <dgm:pt modelId="{E6749A60-BEDC-4F5A-A4B8-A3DC97F387F6}" type="sibTrans" cxnId="{D41C8DBA-9916-4A98-BDC4-0390BD6C9ECE}">
      <dgm:prSet/>
      <dgm:spPr/>
      <dgm:t>
        <a:bodyPr/>
        <a:lstStyle/>
        <a:p>
          <a:endParaRPr lang="en-US"/>
        </a:p>
      </dgm:t>
    </dgm:pt>
    <dgm:pt modelId="{B0E9717E-CC1A-4667-B5A8-31B3C6CC42AC}">
      <dgm:prSet/>
      <dgm:spPr/>
      <dgm:t>
        <a:bodyPr/>
        <a:lstStyle/>
        <a:p>
          <a:r>
            <a:rPr lang="tr-TR" baseline="0"/>
            <a:t>Yanıt (Response): </a:t>
          </a:r>
          <a:endParaRPr lang="en-US"/>
        </a:p>
      </dgm:t>
    </dgm:pt>
    <dgm:pt modelId="{ADA7C0E1-94EC-45AD-BAAD-377A737DF0D4}" type="parTrans" cxnId="{A6F5ACD1-4412-4437-9199-8566BF6FCB2E}">
      <dgm:prSet/>
      <dgm:spPr/>
      <dgm:t>
        <a:bodyPr/>
        <a:lstStyle/>
        <a:p>
          <a:endParaRPr lang="en-US"/>
        </a:p>
      </dgm:t>
    </dgm:pt>
    <dgm:pt modelId="{6591127D-9647-4D12-BDAD-D5261B994C28}" type="sibTrans" cxnId="{A6F5ACD1-4412-4437-9199-8566BF6FCB2E}">
      <dgm:prSet/>
      <dgm:spPr/>
      <dgm:t>
        <a:bodyPr/>
        <a:lstStyle/>
        <a:p>
          <a:endParaRPr lang="en-US"/>
        </a:p>
      </dgm:t>
    </dgm:pt>
    <dgm:pt modelId="{7E6352AF-CE16-4407-A216-5EF6D7CA7494}" type="pres">
      <dgm:prSet presAssocID="{0BA361FA-24EC-44F6-8CC7-D020030DFB77}" presName="root" presStyleCnt="0">
        <dgm:presLayoutVars>
          <dgm:dir/>
          <dgm:resizeHandles val="exact"/>
        </dgm:presLayoutVars>
      </dgm:prSet>
      <dgm:spPr/>
    </dgm:pt>
    <dgm:pt modelId="{8D18FF61-ACE6-4AB6-83D7-BB56C7288CD0}" type="pres">
      <dgm:prSet presAssocID="{2017A00E-7114-4A40-9324-A032D906613C}" presName="compNode" presStyleCnt="0"/>
      <dgm:spPr/>
    </dgm:pt>
    <dgm:pt modelId="{7CAAE547-3126-430F-BFC6-578686EDF089}" type="pres">
      <dgm:prSet presAssocID="{2017A00E-7114-4A40-9324-A032D906613C}" presName="bgRect" presStyleLbl="bgShp" presStyleIdx="0" presStyleCnt="2"/>
      <dgm:spPr/>
    </dgm:pt>
    <dgm:pt modelId="{02D37F43-326C-4ED1-90E8-8D855686A7D3}" type="pres">
      <dgm:prSet presAssocID="{2017A00E-7114-4A40-9324-A032D90661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E36CC4F-195B-4ACF-831B-78D956CA6A44}" type="pres">
      <dgm:prSet presAssocID="{2017A00E-7114-4A40-9324-A032D906613C}" presName="spaceRect" presStyleCnt="0"/>
      <dgm:spPr/>
    </dgm:pt>
    <dgm:pt modelId="{1FC60E03-DE38-43A5-A657-C2E464361DDC}" type="pres">
      <dgm:prSet presAssocID="{2017A00E-7114-4A40-9324-A032D906613C}" presName="parTx" presStyleLbl="revTx" presStyleIdx="0" presStyleCnt="4">
        <dgm:presLayoutVars>
          <dgm:chMax val="0"/>
          <dgm:chPref val="0"/>
        </dgm:presLayoutVars>
      </dgm:prSet>
      <dgm:spPr/>
    </dgm:pt>
    <dgm:pt modelId="{BB180EC3-1433-4108-AE84-43A633B45774}" type="pres">
      <dgm:prSet presAssocID="{2017A00E-7114-4A40-9324-A032D906613C}" presName="desTx" presStyleLbl="revTx" presStyleIdx="1" presStyleCnt="4">
        <dgm:presLayoutVars/>
      </dgm:prSet>
      <dgm:spPr/>
    </dgm:pt>
    <dgm:pt modelId="{BA4FD8A1-2AA9-4E52-B7A2-5D499B45ACC0}" type="pres">
      <dgm:prSet presAssocID="{D0589220-1203-4A92-A497-275C5BEB3CBE}" presName="sibTrans" presStyleCnt="0"/>
      <dgm:spPr/>
    </dgm:pt>
    <dgm:pt modelId="{AEEABC87-279B-47F7-88C2-3FC74086657C}" type="pres">
      <dgm:prSet presAssocID="{99AE70C8-9755-4F76-85E8-FBC6F64640A2}" presName="compNode" presStyleCnt="0"/>
      <dgm:spPr/>
    </dgm:pt>
    <dgm:pt modelId="{DC3C2BDC-C5C5-4944-B8D4-8AD6C86E4408}" type="pres">
      <dgm:prSet presAssocID="{99AE70C8-9755-4F76-85E8-FBC6F64640A2}" presName="bgRect" presStyleLbl="bgShp" presStyleIdx="1" presStyleCnt="2"/>
      <dgm:spPr/>
    </dgm:pt>
    <dgm:pt modelId="{5492E678-BB10-4B49-A38C-65AA7FE60469}" type="pres">
      <dgm:prSet presAssocID="{99AE70C8-9755-4F76-85E8-FBC6F64640A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8B50A52-82BB-4919-853D-0A77FC11C327}" type="pres">
      <dgm:prSet presAssocID="{99AE70C8-9755-4F76-85E8-FBC6F64640A2}" presName="spaceRect" presStyleCnt="0"/>
      <dgm:spPr/>
    </dgm:pt>
    <dgm:pt modelId="{DE6BAE4F-206C-4EC0-AFA8-80E901261924}" type="pres">
      <dgm:prSet presAssocID="{99AE70C8-9755-4F76-85E8-FBC6F64640A2}" presName="parTx" presStyleLbl="revTx" presStyleIdx="2" presStyleCnt="4">
        <dgm:presLayoutVars>
          <dgm:chMax val="0"/>
          <dgm:chPref val="0"/>
        </dgm:presLayoutVars>
      </dgm:prSet>
      <dgm:spPr/>
    </dgm:pt>
    <dgm:pt modelId="{AADC75A0-E565-4303-B16B-CB24166D84BF}" type="pres">
      <dgm:prSet presAssocID="{99AE70C8-9755-4F76-85E8-FBC6F64640A2}" presName="desTx" presStyleLbl="revTx" presStyleIdx="3" presStyleCnt="4">
        <dgm:presLayoutVars/>
      </dgm:prSet>
      <dgm:spPr/>
    </dgm:pt>
  </dgm:ptLst>
  <dgm:cxnLst>
    <dgm:cxn modelId="{FCCBE923-B387-4F26-B9B3-884FC3F068FF}" type="presOf" srcId="{786AB19F-EC87-4786-B912-7EEDCEC8C409}" destId="{AADC75A0-E565-4303-B16B-CB24166D84BF}" srcOrd="0" destOrd="0" presId="urn:microsoft.com/office/officeart/2018/2/layout/IconVerticalSolidList"/>
    <dgm:cxn modelId="{5321EF24-99B8-47CD-A80E-C413331C629B}" type="presOf" srcId="{2CC3083C-DC32-4757-9828-2F218FC8A478}" destId="{BB180EC3-1433-4108-AE84-43A633B45774}" srcOrd="0" destOrd="1" presId="urn:microsoft.com/office/officeart/2018/2/layout/IconVerticalSolidList"/>
    <dgm:cxn modelId="{3F179540-652C-44BB-92E8-E43B6613B6BC}" type="presOf" srcId="{728160F2-1315-49C7-B15A-345AD2806CA8}" destId="{BB180EC3-1433-4108-AE84-43A633B45774}" srcOrd="0" destOrd="0" presId="urn:microsoft.com/office/officeart/2018/2/layout/IconVerticalSolidList"/>
    <dgm:cxn modelId="{E5F82071-884D-47FB-A71F-830A0774C981}" srcId="{0BA361FA-24EC-44F6-8CC7-D020030DFB77}" destId="{99AE70C8-9755-4F76-85E8-FBC6F64640A2}" srcOrd="1" destOrd="0" parTransId="{CC794415-994D-467F-9C5D-5782B7F27019}" sibTransId="{4E2F606C-112A-45AD-B390-295E842A8E5D}"/>
    <dgm:cxn modelId="{0561B259-CD2D-4132-B2D9-FBBA7D08B3CB}" srcId="{2017A00E-7114-4A40-9324-A032D906613C}" destId="{2CC3083C-DC32-4757-9828-2F218FC8A478}" srcOrd="1" destOrd="0" parTransId="{A21331D4-2483-4E67-8EB1-074612C78EF7}" sibTransId="{BCD6ACCA-8789-4E49-AC22-D423DEF16DCF}"/>
    <dgm:cxn modelId="{0AC6F859-118C-401B-970E-6918315F0B84}" srcId="{2017A00E-7114-4A40-9324-A032D906613C}" destId="{728160F2-1315-49C7-B15A-345AD2806CA8}" srcOrd="0" destOrd="0" parTransId="{2FF264CD-6D87-4918-86A0-C975D0632778}" sibTransId="{C02995DD-5B89-448F-A124-1ED659E7EB97}"/>
    <dgm:cxn modelId="{287CE68B-04A8-4F84-B14C-A9B4B8F8000E}" type="presOf" srcId="{99AE70C8-9755-4F76-85E8-FBC6F64640A2}" destId="{DE6BAE4F-206C-4EC0-AFA8-80E901261924}" srcOrd="0" destOrd="0" presId="urn:microsoft.com/office/officeart/2018/2/layout/IconVerticalSolidList"/>
    <dgm:cxn modelId="{9AE88C9F-4381-42DD-88DA-3BCFC4DECD0A}" type="presOf" srcId="{2017A00E-7114-4A40-9324-A032D906613C}" destId="{1FC60E03-DE38-43A5-A657-C2E464361DDC}" srcOrd="0" destOrd="0" presId="urn:microsoft.com/office/officeart/2018/2/layout/IconVerticalSolidList"/>
    <dgm:cxn modelId="{DACD5BA2-E9C4-47D6-B4F8-5DD08A77A29B}" type="presOf" srcId="{0BA361FA-24EC-44F6-8CC7-D020030DFB77}" destId="{7E6352AF-CE16-4407-A216-5EF6D7CA7494}" srcOrd="0" destOrd="0" presId="urn:microsoft.com/office/officeart/2018/2/layout/IconVerticalSolidList"/>
    <dgm:cxn modelId="{D41C8DBA-9916-4A98-BDC4-0390BD6C9ECE}" srcId="{99AE70C8-9755-4F76-85E8-FBC6F64640A2}" destId="{786AB19F-EC87-4786-B912-7EEDCEC8C409}" srcOrd="0" destOrd="0" parTransId="{877B2F0C-5E10-4107-B0ED-9A2C1E59FBA2}" sibTransId="{E6749A60-BEDC-4F5A-A4B8-A3DC97F387F6}"/>
    <dgm:cxn modelId="{CA3AEEC3-F296-4506-BDCD-F5E385E49190}" type="presOf" srcId="{B0E9717E-CC1A-4667-B5A8-31B3C6CC42AC}" destId="{AADC75A0-E565-4303-B16B-CB24166D84BF}" srcOrd="0" destOrd="1" presId="urn:microsoft.com/office/officeart/2018/2/layout/IconVerticalSolidList"/>
    <dgm:cxn modelId="{A6F5ACD1-4412-4437-9199-8566BF6FCB2E}" srcId="{99AE70C8-9755-4F76-85E8-FBC6F64640A2}" destId="{B0E9717E-CC1A-4667-B5A8-31B3C6CC42AC}" srcOrd="1" destOrd="0" parTransId="{ADA7C0E1-94EC-45AD-BAAD-377A737DF0D4}" sibTransId="{6591127D-9647-4D12-BDAD-D5261B994C28}"/>
    <dgm:cxn modelId="{64DD28DD-D77A-4E98-8D09-C5B292DD967D}" srcId="{0BA361FA-24EC-44F6-8CC7-D020030DFB77}" destId="{2017A00E-7114-4A40-9324-A032D906613C}" srcOrd="0" destOrd="0" parTransId="{F2668B95-2B61-4DBD-81CD-28865E83BD81}" sibTransId="{D0589220-1203-4A92-A497-275C5BEB3CBE}"/>
    <dgm:cxn modelId="{BF53E14D-F90B-4C6F-8C90-ADC7B1FE8EF5}" type="presParOf" srcId="{7E6352AF-CE16-4407-A216-5EF6D7CA7494}" destId="{8D18FF61-ACE6-4AB6-83D7-BB56C7288CD0}" srcOrd="0" destOrd="0" presId="urn:microsoft.com/office/officeart/2018/2/layout/IconVerticalSolidList"/>
    <dgm:cxn modelId="{F7316E3A-38A1-4E42-8849-59E530FE5A7D}" type="presParOf" srcId="{8D18FF61-ACE6-4AB6-83D7-BB56C7288CD0}" destId="{7CAAE547-3126-430F-BFC6-578686EDF089}" srcOrd="0" destOrd="0" presId="urn:microsoft.com/office/officeart/2018/2/layout/IconVerticalSolidList"/>
    <dgm:cxn modelId="{D2B3B291-8B2F-4C6B-8F45-8345D20655E5}" type="presParOf" srcId="{8D18FF61-ACE6-4AB6-83D7-BB56C7288CD0}" destId="{02D37F43-326C-4ED1-90E8-8D855686A7D3}" srcOrd="1" destOrd="0" presId="urn:microsoft.com/office/officeart/2018/2/layout/IconVerticalSolidList"/>
    <dgm:cxn modelId="{00388252-1A28-496C-BAD1-089C4C4C3248}" type="presParOf" srcId="{8D18FF61-ACE6-4AB6-83D7-BB56C7288CD0}" destId="{CE36CC4F-195B-4ACF-831B-78D956CA6A44}" srcOrd="2" destOrd="0" presId="urn:microsoft.com/office/officeart/2018/2/layout/IconVerticalSolidList"/>
    <dgm:cxn modelId="{7D6CE97A-7AF9-403E-AB14-3BC4F46B3FD9}" type="presParOf" srcId="{8D18FF61-ACE6-4AB6-83D7-BB56C7288CD0}" destId="{1FC60E03-DE38-43A5-A657-C2E464361DDC}" srcOrd="3" destOrd="0" presId="urn:microsoft.com/office/officeart/2018/2/layout/IconVerticalSolidList"/>
    <dgm:cxn modelId="{1D257B9D-9A25-491D-9952-636E87D42437}" type="presParOf" srcId="{8D18FF61-ACE6-4AB6-83D7-BB56C7288CD0}" destId="{BB180EC3-1433-4108-AE84-43A633B45774}" srcOrd="4" destOrd="0" presId="urn:microsoft.com/office/officeart/2018/2/layout/IconVerticalSolidList"/>
    <dgm:cxn modelId="{06B75319-DADC-4441-8A07-F4A56D494EDA}" type="presParOf" srcId="{7E6352AF-CE16-4407-A216-5EF6D7CA7494}" destId="{BA4FD8A1-2AA9-4E52-B7A2-5D499B45ACC0}" srcOrd="1" destOrd="0" presId="urn:microsoft.com/office/officeart/2018/2/layout/IconVerticalSolidList"/>
    <dgm:cxn modelId="{83333AAE-86FC-40C1-BB3C-78F20EF3B5F4}" type="presParOf" srcId="{7E6352AF-CE16-4407-A216-5EF6D7CA7494}" destId="{AEEABC87-279B-47F7-88C2-3FC74086657C}" srcOrd="2" destOrd="0" presId="urn:microsoft.com/office/officeart/2018/2/layout/IconVerticalSolidList"/>
    <dgm:cxn modelId="{FA7AEA5F-2F66-43D9-8FAF-0534D5B0C2C6}" type="presParOf" srcId="{AEEABC87-279B-47F7-88C2-3FC74086657C}" destId="{DC3C2BDC-C5C5-4944-B8D4-8AD6C86E4408}" srcOrd="0" destOrd="0" presId="urn:microsoft.com/office/officeart/2018/2/layout/IconVerticalSolidList"/>
    <dgm:cxn modelId="{CA538C67-F2A3-4199-B9E0-E98C623543E4}" type="presParOf" srcId="{AEEABC87-279B-47F7-88C2-3FC74086657C}" destId="{5492E678-BB10-4B49-A38C-65AA7FE60469}" srcOrd="1" destOrd="0" presId="urn:microsoft.com/office/officeart/2018/2/layout/IconVerticalSolidList"/>
    <dgm:cxn modelId="{476A7898-511A-469A-91F6-63E7F48D80D9}" type="presParOf" srcId="{AEEABC87-279B-47F7-88C2-3FC74086657C}" destId="{98B50A52-82BB-4919-853D-0A77FC11C327}" srcOrd="2" destOrd="0" presId="urn:microsoft.com/office/officeart/2018/2/layout/IconVerticalSolidList"/>
    <dgm:cxn modelId="{A4235B76-ADBE-4E33-88A1-05258DA37340}" type="presParOf" srcId="{AEEABC87-279B-47F7-88C2-3FC74086657C}" destId="{DE6BAE4F-206C-4EC0-AFA8-80E901261924}" srcOrd="3" destOrd="0" presId="urn:microsoft.com/office/officeart/2018/2/layout/IconVerticalSolidList"/>
    <dgm:cxn modelId="{89261ABE-8AD0-4144-88BC-4AAC1ACB14E0}" type="presParOf" srcId="{AEEABC87-279B-47F7-88C2-3FC74086657C}" destId="{AADC75A0-E565-4303-B16B-CB24166D84B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48DB66-1F2C-4C12-9AC4-32FAC32376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6B5278-795D-46B5-A8B4-559E9C56B350}">
      <dgm:prSet/>
      <dgm:spPr/>
      <dgm:t>
        <a:bodyPr/>
        <a:lstStyle/>
        <a:p>
          <a:r>
            <a:rPr lang="tr-TR"/>
            <a:t>Web 1.0 döneminde her etkileşim (bir butona tıklamak, bir formu göndermek) sunucuya gidip tüm sayfanın HTML olarak yeniden gelmesini gerektiriyordu. Bu hantal ve yavaştı.</a:t>
          </a:r>
          <a:endParaRPr lang="en-US"/>
        </a:p>
      </dgm:t>
    </dgm:pt>
    <dgm:pt modelId="{9BF0DAFA-6365-4AB7-A870-1D29F3C70BA8}" type="parTrans" cxnId="{B6DAE204-497E-477C-A882-27E7D1DBA6D8}">
      <dgm:prSet/>
      <dgm:spPr/>
      <dgm:t>
        <a:bodyPr/>
        <a:lstStyle/>
        <a:p>
          <a:endParaRPr lang="en-US"/>
        </a:p>
      </dgm:t>
    </dgm:pt>
    <dgm:pt modelId="{C4B65E95-C437-418F-9404-3323A7BD9747}" type="sibTrans" cxnId="{B6DAE204-497E-477C-A882-27E7D1DBA6D8}">
      <dgm:prSet/>
      <dgm:spPr/>
      <dgm:t>
        <a:bodyPr/>
        <a:lstStyle/>
        <a:p>
          <a:endParaRPr lang="en-US"/>
        </a:p>
      </dgm:t>
    </dgm:pt>
    <dgm:pt modelId="{28E84102-AFB4-4327-BF3B-D69D12486A6D}">
      <dgm:prSet/>
      <dgm:spPr/>
      <dgm:t>
        <a:bodyPr/>
        <a:lstStyle/>
        <a:p>
          <a:r>
            <a:rPr lang="tr-TR" b="1"/>
            <a:t>Web 2.0 ile gelen fark:</a:t>
          </a:r>
          <a:r>
            <a:rPr lang="tr-TR"/>
            <a:t> Sayfanın sadece </a:t>
          </a:r>
          <a:r>
            <a:rPr lang="tr-TR" b="1"/>
            <a:t>bir kısmının</a:t>
          </a:r>
          <a:r>
            <a:rPr lang="tr-TR"/>
            <a:t> güncellenmesi ihtiyacı doğdu.</a:t>
          </a:r>
          <a:endParaRPr lang="en-US"/>
        </a:p>
      </dgm:t>
    </dgm:pt>
    <dgm:pt modelId="{A69551D7-EA5F-4CF5-B98F-1081C8F8604B}" type="parTrans" cxnId="{C3618DF7-5EA0-4BE3-9FDA-732F800F712A}">
      <dgm:prSet/>
      <dgm:spPr/>
      <dgm:t>
        <a:bodyPr/>
        <a:lstStyle/>
        <a:p>
          <a:endParaRPr lang="en-US"/>
        </a:p>
      </dgm:t>
    </dgm:pt>
    <dgm:pt modelId="{8E0B2EE7-FDAF-410F-8B56-84B22E6FE7C5}" type="sibTrans" cxnId="{C3618DF7-5EA0-4BE3-9FDA-732F800F712A}">
      <dgm:prSet/>
      <dgm:spPr/>
      <dgm:t>
        <a:bodyPr/>
        <a:lstStyle/>
        <a:p>
          <a:endParaRPr lang="en-US"/>
        </a:p>
      </dgm:t>
    </dgm:pt>
    <dgm:pt modelId="{5DE49DE7-E653-43BD-9A52-9CBC0325994C}">
      <dgm:prSet/>
      <dgm:spPr/>
      <dgm:t>
        <a:bodyPr/>
        <a:lstStyle/>
        <a:p>
          <a:r>
            <a:rPr lang="tr-TR" b="1"/>
            <a:t>Sebebi:</a:t>
          </a:r>
          <a:r>
            <a:rPr lang="tr-TR"/>
            <a:t> Kullanıcıların içerik oluşturmaya (sosyal medya, yorumlar, forumlar) başlaması. Veri akışı o kadar hızlandı ki, her seferinde tüm sayfayı yüklemek imkansız hale geldi.</a:t>
          </a:r>
          <a:endParaRPr lang="en-US"/>
        </a:p>
      </dgm:t>
    </dgm:pt>
    <dgm:pt modelId="{3BC21225-8ACD-4747-AE0C-360957B99649}" type="parTrans" cxnId="{899EDE67-230D-406C-BE2B-E333E53AFE0E}">
      <dgm:prSet/>
      <dgm:spPr/>
      <dgm:t>
        <a:bodyPr/>
        <a:lstStyle/>
        <a:p>
          <a:endParaRPr lang="en-US"/>
        </a:p>
      </dgm:t>
    </dgm:pt>
    <dgm:pt modelId="{97891FA4-2FEF-4738-B21C-77B2BE0ADC69}" type="sibTrans" cxnId="{899EDE67-230D-406C-BE2B-E333E53AFE0E}">
      <dgm:prSet/>
      <dgm:spPr/>
      <dgm:t>
        <a:bodyPr/>
        <a:lstStyle/>
        <a:p>
          <a:endParaRPr lang="en-US"/>
        </a:p>
      </dgm:t>
    </dgm:pt>
    <dgm:pt modelId="{294E4CFB-B6DD-4B53-9F18-816E4113A300}" type="pres">
      <dgm:prSet presAssocID="{B548DB66-1F2C-4C12-9AC4-32FAC32376EE}" presName="root" presStyleCnt="0">
        <dgm:presLayoutVars>
          <dgm:dir/>
          <dgm:resizeHandles val="exact"/>
        </dgm:presLayoutVars>
      </dgm:prSet>
      <dgm:spPr/>
    </dgm:pt>
    <dgm:pt modelId="{644CBC51-CA5D-4EA7-BE19-00EE7B654FD5}" type="pres">
      <dgm:prSet presAssocID="{256B5278-795D-46B5-A8B4-559E9C56B350}" presName="compNode" presStyleCnt="0"/>
      <dgm:spPr/>
    </dgm:pt>
    <dgm:pt modelId="{7569305A-2EC0-4176-8199-E9ED4774F540}" type="pres">
      <dgm:prSet presAssocID="{256B5278-795D-46B5-A8B4-559E9C56B350}" presName="bgRect" presStyleLbl="bgShp" presStyleIdx="0" presStyleCnt="3"/>
      <dgm:spPr/>
    </dgm:pt>
    <dgm:pt modelId="{E6461443-9A09-45F8-A25F-5D89BE914E59}" type="pres">
      <dgm:prSet presAssocID="{256B5278-795D-46B5-A8B4-559E9C56B3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CDED4355-D060-4DCC-A147-34A05E296F3A}" type="pres">
      <dgm:prSet presAssocID="{256B5278-795D-46B5-A8B4-559E9C56B350}" presName="spaceRect" presStyleCnt="0"/>
      <dgm:spPr/>
    </dgm:pt>
    <dgm:pt modelId="{178EFC05-9F1C-4A16-BC41-24DDD6F54E66}" type="pres">
      <dgm:prSet presAssocID="{256B5278-795D-46B5-A8B4-559E9C56B350}" presName="parTx" presStyleLbl="revTx" presStyleIdx="0" presStyleCnt="3">
        <dgm:presLayoutVars>
          <dgm:chMax val="0"/>
          <dgm:chPref val="0"/>
        </dgm:presLayoutVars>
      </dgm:prSet>
      <dgm:spPr/>
    </dgm:pt>
    <dgm:pt modelId="{2097D7AA-F2FC-4260-A1CB-04DAA80D2375}" type="pres">
      <dgm:prSet presAssocID="{C4B65E95-C437-418F-9404-3323A7BD9747}" presName="sibTrans" presStyleCnt="0"/>
      <dgm:spPr/>
    </dgm:pt>
    <dgm:pt modelId="{7F688A79-A162-460B-ADB6-FBE3C435BCC1}" type="pres">
      <dgm:prSet presAssocID="{28E84102-AFB4-4327-BF3B-D69D12486A6D}" presName="compNode" presStyleCnt="0"/>
      <dgm:spPr/>
    </dgm:pt>
    <dgm:pt modelId="{0D303639-701C-4324-9A9F-7AD35AF9315D}" type="pres">
      <dgm:prSet presAssocID="{28E84102-AFB4-4327-BF3B-D69D12486A6D}" presName="bgRect" presStyleLbl="bgShp" presStyleIdx="1" presStyleCnt="3"/>
      <dgm:spPr/>
    </dgm:pt>
    <dgm:pt modelId="{8B9E5B24-3BFC-4EBF-8B3F-0B1F131D70B0}" type="pres">
      <dgm:prSet presAssocID="{28E84102-AFB4-4327-BF3B-D69D12486A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5CF52C1-6B39-4E9A-976A-65841730CCD1}" type="pres">
      <dgm:prSet presAssocID="{28E84102-AFB4-4327-BF3B-D69D12486A6D}" presName="spaceRect" presStyleCnt="0"/>
      <dgm:spPr/>
    </dgm:pt>
    <dgm:pt modelId="{3BC9B415-4465-46DE-9DC5-7E072DD9366F}" type="pres">
      <dgm:prSet presAssocID="{28E84102-AFB4-4327-BF3B-D69D12486A6D}" presName="parTx" presStyleLbl="revTx" presStyleIdx="1" presStyleCnt="3">
        <dgm:presLayoutVars>
          <dgm:chMax val="0"/>
          <dgm:chPref val="0"/>
        </dgm:presLayoutVars>
      </dgm:prSet>
      <dgm:spPr/>
    </dgm:pt>
    <dgm:pt modelId="{BF9713B0-E438-415F-86AB-72829D45698B}" type="pres">
      <dgm:prSet presAssocID="{8E0B2EE7-FDAF-410F-8B56-84B22E6FE7C5}" presName="sibTrans" presStyleCnt="0"/>
      <dgm:spPr/>
    </dgm:pt>
    <dgm:pt modelId="{F9AE2A71-194F-4C9B-B1E7-726E73938C05}" type="pres">
      <dgm:prSet presAssocID="{5DE49DE7-E653-43BD-9A52-9CBC0325994C}" presName="compNode" presStyleCnt="0"/>
      <dgm:spPr/>
    </dgm:pt>
    <dgm:pt modelId="{3FE77A68-EF14-45EF-A475-18954339053F}" type="pres">
      <dgm:prSet presAssocID="{5DE49DE7-E653-43BD-9A52-9CBC0325994C}" presName="bgRect" presStyleLbl="bgShp" presStyleIdx="2" presStyleCnt="3"/>
      <dgm:spPr/>
    </dgm:pt>
    <dgm:pt modelId="{3615EF28-FDDB-488E-A209-A3FB347F55D6}" type="pres">
      <dgm:prSet presAssocID="{5DE49DE7-E653-43BD-9A52-9CBC032599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hbet"/>
        </a:ext>
      </dgm:extLst>
    </dgm:pt>
    <dgm:pt modelId="{CAA822DF-D87B-4CAA-BB77-8315582074E2}" type="pres">
      <dgm:prSet presAssocID="{5DE49DE7-E653-43BD-9A52-9CBC0325994C}" presName="spaceRect" presStyleCnt="0"/>
      <dgm:spPr/>
    </dgm:pt>
    <dgm:pt modelId="{2E573779-F638-4F16-A19C-55E22BE876E3}" type="pres">
      <dgm:prSet presAssocID="{5DE49DE7-E653-43BD-9A52-9CBC0325994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6DAE204-497E-477C-A882-27E7D1DBA6D8}" srcId="{B548DB66-1F2C-4C12-9AC4-32FAC32376EE}" destId="{256B5278-795D-46B5-A8B4-559E9C56B350}" srcOrd="0" destOrd="0" parTransId="{9BF0DAFA-6365-4AB7-A870-1D29F3C70BA8}" sibTransId="{C4B65E95-C437-418F-9404-3323A7BD9747}"/>
    <dgm:cxn modelId="{A3B5FC05-D954-46EC-A5CB-107A0820A722}" type="presOf" srcId="{28E84102-AFB4-4327-BF3B-D69D12486A6D}" destId="{3BC9B415-4465-46DE-9DC5-7E072DD9366F}" srcOrd="0" destOrd="0" presId="urn:microsoft.com/office/officeart/2018/2/layout/IconVerticalSolidList"/>
    <dgm:cxn modelId="{899EDE67-230D-406C-BE2B-E333E53AFE0E}" srcId="{B548DB66-1F2C-4C12-9AC4-32FAC32376EE}" destId="{5DE49DE7-E653-43BD-9A52-9CBC0325994C}" srcOrd="2" destOrd="0" parTransId="{3BC21225-8ACD-4747-AE0C-360957B99649}" sibTransId="{97891FA4-2FEF-4738-B21C-77B2BE0ADC69}"/>
    <dgm:cxn modelId="{9698CE8F-D09C-4C12-BCA7-BA56AC625947}" type="presOf" srcId="{B548DB66-1F2C-4C12-9AC4-32FAC32376EE}" destId="{294E4CFB-B6DD-4B53-9F18-816E4113A300}" srcOrd="0" destOrd="0" presId="urn:microsoft.com/office/officeart/2018/2/layout/IconVerticalSolidList"/>
    <dgm:cxn modelId="{B64376A6-B4D1-48AD-9FBB-38A5CB819325}" type="presOf" srcId="{5DE49DE7-E653-43BD-9A52-9CBC0325994C}" destId="{2E573779-F638-4F16-A19C-55E22BE876E3}" srcOrd="0" destOrd="0" presId="urn:microsoft.com/office/officeart/2018/2/layout/IconVerticalSolidList"/>
    <dgm:cxn modelId="{E8F274BC-1BED-4B2A-9668-931D2AE98AEA}" type="presOf" srcId="{256B5278-795D-46B5-A8B4-559E9C56B350}" destId="{178EFC05-9F1C-4A16-BC41-24DDD6F54E66}" srcOrd="0" destOrd="0" presId="urn:microsoft.com/office/officeart/2018/2/layout/IconVerticalSolidList"/>
    <dgm:cxn modelId="{C3618DF7-5EA0-4BE3-9FDA-732F800F712A}" srcId="{B548DB66-1F2C-4C12-9AC4-32FAC32376EE}" destId="{28E84102-AFB4-4327-BF3B-D69D12486A6D}" srcOrd="1" destOrd="0" parTransId="{A69551D7-EA5F-4CF5-B98F-1081C8F8604B}" sibTransId="{8E0B2EE7-FDAF-410F-8B56-84B22E6FE7C5}"/>
    <dgm:cxn modelId="{FCC4749C-3C6C-4D60-8A7A-696478DDDF90}" type="presParOf" srcId="{294E4CFB-B6DD-4B53-9F18-816E4113A300}" destId="{644CBC51-CA5D-4EA7-BE19-00EE7B654FD5}" srcOrd="0" destOrd="0" presId="urn:microsoft.com/office/officeart/2018/2/layout/IconVerticalSolidList"/>
    <dgm:cxn modelId="{075B2AA5-920F-4414-8FFE-D92315CA4D23}" type="presParOf" srcId="{644CBC51-CA5D-4EA7-BE19-00EE7B654FD5}" destId="{7569305A-2EC0-4176-8199-E9ED4774F540}" srcOrd="0" destOrd="0" presId="urn:microsoft.com/office/officeart/2018/2/layout/IconVerticalSolidList"/>
    <dgm:cxn modelId="{D92920B9-7B5F-4B03-9E6C-690F818AD00B}" type="presParOf" srcId="{644CBC51-CA5D-4EA7-BE19-00EE7B654FD5}" destId="{E6461443-9A09-45F8-A25F-5D89BE914E59}" srcOrd="1" destOrd="0" presId="urn:microsoft.com/office/officeart/2018/2/layout/IconVerticalSolidList"/>
    <dgm:cxn modelId="{E03DC61B-D807-4F6A-B99D-CCD1C8BCE417}" type="presParOf" srcId="{644CBC51-CA5D-4EA7-BE19-00EE7B654FD5}" destId="{CDED4355-D060-4DCC-A147-34A05E296F3A}" srcOrd="2" destOrd="0" presId="urn:microsoft.com/office/officeart/2018/2/layout/IconVerticalSolidList"/>
    <dgm:cxn modelId="{D7A781F0-560D-4365-906F-F5F1DEC9C670}" type="presParOf" srcId="{644CBC51-CA5D-4EA7-BE19-00EE7B654FD5}" destId="{178EFC05-9F1C-4A16-BC41-24DDD6F54E66}" srcOrd="3" destOrd="0" presId="urn:microsoft.com/office/officeart/2018/2/layout/IconVerticalSolidList"/>
    <dgm:cxn modelId="{C97FC777-5C37-4C09-AD3E-E4007E60ABB1}" type="presParOf" srcId="{294E4CFB-B6DD-4B53-9F18-816E4113A300}" destId="{2097D7AA-F2FC-4260-A1CB-04DAA80D2375}" srcOrd="1" destOrd="0" presId="urn:microsoft.com/office/officeart/2018/2/layout/IconVerticalSolidList"/>
    <dgm:cxn modelId="{3FC0654D-0B76-4CB3-9F8C-0ED98714A54E}" type="presParOf" srcId="{294E4CFB-B6DD-4B53-9F18-816E4113A300}" destId="{7F688A79-A162-460B-ADB6-FBE3C435BCC1}" srcOrd="2" destOrd="0" presId="urn:microsoft.com/office/officeart/2018/2/layout/IconVerticalSolidList"/>
    <dgm:cxn modelId="{786144BC-BBB8-4E1F-8C5E-49E0A4A01054}" type="presParOf" srcId="{7F688A79-A162-460B-ADB6-FBE3C435BCC1}" destId="{0D303639-701C-4324-9A9F-7AD35AF9315D}" srcOrd="0" destOrd="0" presId="urn:microsoft.com/office/officeart/2018/2/layout/IconVerticalSolidList"/>
    <dgm:cxn modelId="{B4549EB3-EDEB-43A8-A356-6A7D49B0A7C0}" type="presParOf" srcId="{7F688A79-A162-460B-ADB6-FBE3C435BCC1}" destId="{8B9E5B24-3BFC-4EBF-8B3F-0B1F131D70B0}" srcOrd="1" destOrd="0" presId="urn:microsoft.com/office/officeart/2018/2/layout/IconVerticalSolidList"/>
    <dgm:cxn modelId="{B7B2921C-588D-453E-BD1B-2E9EF44D5D60}" type="presParOf" srcId="{7F688A79-A162-460B-ADB6-FBE3C435BCC1}" destId="{C5CF52C1-6B39-4E9A-976A-65841730CCD1}" srcOrd="2" destOrd="0" presId="urn:microsoft.com/office/officeart/2018/2/layout/IconVerticalSolidList"/>
    <dgm:cxn modelId="{D1D5D654-8C76-42D9-BC4B-8B14A1884706}" type="presParOf" srcId="{7F688A79-A162-460B-ADB6-FBE3C435BCC1}" destId="{3BC9B415-4465-46DE-9DC5-7E072DD9366F}" srcOrd="3" destOrd="0" presId="urn:microsoft.com/office/officeart/2018/2/layout/IconVerticalSolidList"/>
    <dgm:cxn modelId="{2BDF1C02-55D6-4FF0-91C9-837212A7FA03}" type="presParOf" srcId="{294E4CFB-B6DD-4B53-9F18-816E4113A300}" destId="{BF9713B0-E438-415F-86AB-72829D45698B}" srcOrd="3" destOrd="0" presId="urn:microsoft.com/office/officeart/2018/2/layout/IconVerticalSolidList"/>
    <dgm:cxn modelId="{26AFECEF-1E2A-4A1F-9F2D-0D764EDF5986}" type="presParOf" srcId="{294E4CFB-B6DD-4B53-9F18-816E4113A300}" destId="{F9AE2A71-194F-4C9B-B1E7-726E73938C05}" srcOrd="4" destOrd="0" presId="urn:microsoft.com/office/officeart/2018/2/layout/IconVerticalSolidList"/>
    <dgm:cxn modelId="{DE7C5D74-082B-4023-AB7D-4CFFD5A108D6}" type="presParOf" srcId="{F9AE2A71-194F-4C9B-B1E7-726E73938C05}" destId="{3FE77A68-EF14-45EF-A475-18954339053F}" srcOrd="0" destOrd="0" presId="urn:microsoft.com/office/officeart/2018/2/layout/IconVerticalSolidList"/>
    <dgm:cxn modelId="{946C776A-21B8-4B51-B7F2-F186BB0BAB0E}" type="presParOf" srcId="{F9AE2A71-194F-4C9B-B1E7-726E73938C05}" destId="{3615EF28-FDDB-488E-A209-A3FB347F55D6}" srcOrd="1" destOrd="0" presId="urn:microsoft.com/office/officeart/2018/2/layout/IconVerticalSolidList"/>
    <dgm:cxn modelId="{4F44E1E2-4743-4ADC-8335-75C5A79B70AE}" type="presParOf" srcId="{F9AE2A71-194F-4C9B-B1E7-726E73938C05}" destId="{CAA822DF-D87B-4CAA-BB77-8315582074E2}" srcOrd="2" destOrd="0" presId="urn:microsoft.com/office/officeart/2018/2/layout/IconVerticalSolidList"/>
    <dgm:cxn modelId="{FB0ABAF8-58F4-4DD1-B511-501BD378FC22}" type="presParOf" srcId="{F9AE2A71-194F-4C9B-B1E7-726E73938C05}" destId="{2E573779-F638-4F16-A19C-55E22BE876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A7D4B3-0713-4180-B841-132F4B069C5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05C4A1-D101-4B83-91D0-3BEDAA0877BB}">
      <dgm:prSet/>
      <dgm:spPr/>
      <dgm:t>
        <a:bodyPr/>
        <a:lstStyle/>
        <a:p>
          <a:pPr rtl="0">
            <a:defRPr b="1"/>
          </a:pPr>
          <a:r>
            <a:rPr lang="tr-TR" b="1" dirty="0" err="1"/>
            <a:t>Vanilla</a:t>
          </a:r>
          <a:r>
            <a:rPr lang="tr-TR" b="1" dirty="0"/>
            <a:t> JS </a:t>
          </a:r>
          <a:r>
            <a:rPr lang="tr-TR" b="1" dirty="0">
              <a:latin typeface="Bell MT"/>
            </a:rPr>
            <a:t>ve </a:t>
          </a:r>
          <a:r>
            <a:rPr lang="tr-TR" b="1" dirty="0"/>
            <a:t>Dönemi:</a:t>
          </a:r>
          <a:r>
            <a:rPr lang="tr-TR" dirty="0"/>
            <a:t> </a:t>
          </a:r>
          <a:r>
            <a:rPr lang="tr-TR" dirty="0" err="1"/>
            <a:t>document.getElementById</a:t>
          </a:r>
          <a:r>
            <a:rPr lang="tr-TR" dirty="0"/>
            <a:t> ile her şeyi elle (</a:t>
          </a:r>
          <a:r>
            <a:rPr lang="tr-TR" dirty="0" err="1"/>
            <a:t>Imperative</a:t>
          </a:r>
          <a:r>
            <a:rPr lang="tr-TR" dirty="0"/>
            <a:t>) manipüle etmek. Kod büyüdükçe yönetilemez ("Spagetti Kod") hale gelmesi.</a:t>
          </a:r>
          <a:endParaRPr lang="en-US" dirty="0"/>
        </a:p>
      </dgm:t>
    </dgm:pt>
    <dgm:pt modelId="{D474935A-3158-40BF-B318-0202EFA65744}" type="parTrans" cxnId="{4A06727D-F3AF-4F6D-9882-D4E0B1E232FC}">
      <dgm:prSet/>
      <dgm:spPr/>
      <dgm:t>
        <a:bodyPr/>
        <a:lstStyle/>
        <a:p>
          <a:endParaRPr lang="en-US"/>
        </a:p>
      </dgm:t>
    </dgm:pt>
    <dgm:pt modelId="{5B0EEC5D-7B1B-455E-A6FF-5F2191250C5F}" type="sibTrans" cxnId="{4A06727D-F3AF-4F6D-9882-D4E0B1E232FC}">
      <dgm:prSet/>
      <dgm:spPr/>
      <dgm:t>
        <a:bodyPr/>
        <a:lstStyle/>
        <a:p>
          <a:endParaRPr lang="en-US"/>
        </a:p>
      </dgm:t>
    </dgm:pt>
    <dgm:pt modelId="{4FB901E9-D066-4362-92F2-DF8815919D6A}">
      <dgm:prSet/>
      <dgm:spPr/>
      <dgm:t>
        <a:bodyPr/>
        <a:lstStyle/>
        <a:p>
          <a:pPr>
            <a:defRPr b="1"/>
          </a:pPr>
          <a:r>
            <a:rPr lang="tr-TR" b="1" dirty="0"/>
            <a:t>Modern İhtiyaçlar:</a:t>
          </a:r>
          <a:endParaRPr lang="en-US" dirty="0"/>
        </a:p>
      </dgm:t>
    </dgm:pt>
    <dgm:pt modelId="{45006C17-54F2-4F1C-AB33-C0ED49D0E5D2}" type="parTrans" cxnId="{10B26B91-CB8A-4944-BAD6-D3069F64F22B}">
      <dgm:prSet/>
      <dgm:spPr/>
      <dgm:t>
        <a:bodyPr/>
        <a:lstStyle/>
        <a:p>
          <a:endParaRPr lang="en-US"/>
        </a:p>
      </dgm:t>
    </dgm:pt>
    <dgm:pt modelId="{121B93BB-F6B1-4CA8-8E70-CF0C0057F5FF}" type="sibTrans" cxnId="{10B26B91-CB8A-4944-BAD6-D3069F64F22B}">
      <dgm:prSet/>
      <dgm:spPr/>
      <dgm:t>
        <a:bodyPr/>
        <a:lstStyle/>
        <a:p>
          <a:endParaRPr lang="en-US"/>
        </a:p>
      </dgm:t>
    </dgm:pt>
    <dgm:pt modelId="{1BE34EEF-488F-4A43-B035-B66F8FCAA7DF}">
      <dgm:prSet/>
      <dgm:spPr/>
      <dgm:t>
        <a:bodyPr/>
        <a:lstStyle/>
        <a:p>
          <a:pPr>
            <a:defRPr b="1"/>
          </a:pPr>
          <a:r>
            <a:rPr lang="tr-TR" b="1" dirty="0"/>
            <a:t>Hız:</a:t>
          </a:r>
          <a:r>
            <a:rPr lang="tr-TR" dirty="0"/>
            <a:t> Sayfa yenilenmeden anlık güncellemeler.</a:t>
          </a:r>
          <a:endParaRPr lang="en-US" dirty="0"/>
        </a:p>
      </dgm:t>
    </dgm:pt>
    <dgm:pt modelId="{EB4032A1-1369-4674-AC85-ED0962DFF77C}" type="parTrans" cxnId="{0823F296-E1B0-46E0-B397-2D6CCF1829AA}">
      <dgm:prSet/>
      <dgm:spPr/>
      <dgm:t>
        <a:bodyPr/>
        <a:lstStyle/>
        <a:p>
          <a:endParaRPr lang="en-US"/>
        </a:p>
      </dgm:t>
    </dgm:pt>
    <dgm:pt modelId="{53716AF7-2C89-49F1-8199-DC85F815F28E}" type="sibTrans" cxnId="{0823F296-E1B0-46E0-B397-2D6CCF1829AA}">
      <dgm:prSet/>
      <dgm:spPr/>
      <dgm:t>
        <a:bodyPr/>
        <a:lstStyle/>
        <a:p>
          <a:endParaRPr lang="en-US"/>
        </a:p>
      </dgm:t>
    </dgm:pt>
    <dgm:pt modelId="{CF23E46E-B23A-4F03-8696-C11F10E4189E}">
      <dgm:prSet/>
      <dgm:spPr/>
      <dgm:t>
        <a:bodyPr/>
        <a:lstStyle/>
        <a:p>
          <a:pPr>
            <a:defRPr b="1"/>
          </a:pPr>
          <a:r>
            <a:rPr lang="tr-TR" b="1" dirty="0"/>
            <a:t>Bakım:</a:t>
          </a:r>
          <a:r>
            <a:rPr lang="tr-TR" dirty="0"/>
            <a:t> Binlerce satır kodu modüler (bileşen bazlı) yönetme zorunluluğu.</a:t>
          </a:r>
          <a:endParaRPr lang="en-US" dirty="0"/>
        </a:p>
      </dgm:t>
    </dgm:pt>
    <dgm:pt modelId="{643F950A-2106-49A0-BF0A-06AB32C6F499}" type="parTrans" cxnId="{F54237F0-C961-45D1-9F1B-71122BE5273D}">
      <dgm:prSet/>
      <dgm:spPr/>
      <dgm:t>
        <a:bodyPr/>
        <a:lstStyle/>
        <a:p>
          <a:endParaRPr lang="en-US"/>
        </a:p>
      </dgm:t>
    </dgm:pt>
    <dgm:pt modelId="{96F2710D-1FC7-4199-9C61-23F243FC1C1A}" type="sibTrans" cxnId="{F54237F0-C961-45D1-9F1B-71122BE5273D}">
      <dgm:prSet/>
      <dgm:spPr/>
      <dgm:t>
        <a:bodyPr/>
        <a:lstStyle/>
        <a:p>
          <a:endParaRPr lang="en-US"/>
        </a:p>
      </dgm:t>
    </dgm:pt>
    <dgm:pt modelId="{E15A9EC8-7A57-4153-BFA1-169EFE0DAF01}">
      <dgm:prSet/>
      <dgm:spPr/>
      <dgm:t>
        <a:bodyPr/>
        <a:lstStyle/>
        <a:p>
          <a:pPr>
            <a:defRPr b="1"/>
          </a:pPr>
          <a:r>
            <a:rPr lang="tr-TR" b="1" dirty="0"/>
            <a:t>Ekosistem:</a:t>
          </a:r>
          <a:r>
            <a:rPr lang="tr-TR" dirty="0"/>
            <a:t> </a:t>
          </a:r>
          <a:r>
            <a:rPr lang="tr-TR" dirty="0" err="1"/>
            <a:t>React</a:t>
          </a:r>
          <a:r>
            <a:rPr lang="tr-TR" dirty="0"/>
            <a:t>, </a:t>
          </a:r>
          <a:r>
            <a:rPr lang="tr-TR" dirty="0" err="1"/>
            <a:t>Vue</a:t>
          </a:r>
          <a:r>
            <a:rPr lang="tr-TR" dirty="0"/>
            <a:t> ve </a:t>
          </a:r>
          <a:r>
            <a:rPr lang="tr-TR" dirty="0" err="1"/>
            <a:t>Angular'ın</a:t>
          </a:r>
          <a:r>
            <a:rPr lang="tr-TR" dirty="0"/>
            <a:t> sunduğu hazır çözümler.</a:t>
          </a:r>
          <a:endParaRPr lang="en-US" dirty="0"/>
        </a:p>
      </dgm:t>
    </dgm:pt>
    <dgm:pt modelId="{EC70C3F5-3D25-41B5-9EC3-E31BAD90CA1B}" type="parTrans" cxnId="{2C417025-9708-498B-9211-0BFB45891A67}">
      <dgm:prSet/>
      <dgm:spPr/>
      <dgm:t>
        <a:bodyPr/>
        <a:lstStyle/>
        <a:p>
          <a:endParaRPr lang="en-US"/>
        </a:p>
      </dgm:t>
    </dgm:pt>
    <dgm:pt modelId="{8F1E8405-2DEE-452E-800A-1C0ACCF66E64}" type="sibTrans" cxnId="{2C417025-9708-498B-9211-0BFB45891A67}">
      <dgm:prSet/>
      <dgm:spPr/>
      <dgm:t>
        <a:bodyPr/>
        <a:lstStyle/>
        <a:p>
          <a:endParaRPr lang="en-US"/>
        </a:p>
      </dgm:t>
    </dgm:pt>
    <dgm:pt modelId="{BC2E1104-32AE-47AF-A2A4-ACF2B1485265}" type="pres">
      <dgm:prSet presAssocID="{85A7D4B3-0713-4180-B841-132F4B069C5C}" presName="root" presStyleCnt="0">
        <dgm:presLayoutVars>
          <dgm:dir/>
          <dgm:resizeHandles val="exact"/>
        </dgm:presLayoutVars>
      </dgm:prSet>
      <dgm:spPr/>
    </dgm:pt>
    <dgm:pt modelId="{AE6A18D0-86C7-4F17-BB4C-39F84D548DFB}" type="pres">
      <dgm:prSet presAssocID="{3D05C4A1-D101-4B83-91D0-3BEDAA0877BB}" presName="compNode" presStyleCnt="0"/>
      <dgm:spPr/>
    </dgm:pt>
    <dgm:pt modelId="{DFFFE53F-4368-4B97-A657-AA6E78AA4EF8}" type="pres">
      <dgm:prSet presAssocID="{3D05C4A1-D101-4B83-91D0-3BEDAA0877B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18DD375-79DF-4567-894D-3F5B2826B803}" type="pres">
      <dgm:prSet presAssocID="{3D05C4A1-D101-4B83-91D0-3BEDAA0877BB}" presName="iconSpace" presStyleCnt="0"/>
      <dgm:spPr/>
    </dgm:pt>
    <dgm:pt modelId="{9A3694A8-5DF5-4FCE-8F20-AE69648B3C9F}" type="pres">
      <dgm:prSet presAssocID="{3D05C4A1-D101-4B83-91D0-3BEDAA0877BB}" presName="parTx" presStyleLbl="revTx" presStyleIdx="0" presStyleCnt="10">
        <dgm:presLayoutVars>
          <dgm:chMax val="0"/>
          <dgm:chPref val="0"/>
        </dgm:presLayoutVars>
      </dgm:prSet>
      <dgm:spPr/>
    </dgm:pt>
    <dgm:pt modelId="{633710F1-8401-4E77-8E08-CB4BD53FEF9F}" type="pres">
      <dgm:prSet presAssocID="{3D05C4A1-D101-4B83-91D0-3BEDAA0877BB}" presName="txSpace" presStyleCnt="0"/>
      <dgm:spPr/>
    </dgm:pt>
    <dgm:pt modelId="{8C6F6068-8C01-4D90-B5BA-FC9DEA47B0A3}" type="pres">
      <dgm:prSet presAssocID="{3D05C4A1-D101-4B83-91D0-3BEDAA0877BB}" presName="desTx" presStyleLbl="revTx" presStyleIdx="1" presStyleCnt="10">
        <dgm:presLayoutVars/>
      </dgm:prSet>
      <dgm:spPr/>
    </dgm:pt>
    <dgm:pt modelId="{019FC3C1-E757-46B6-9FAD-F2D808B2B76F}" type="pres">
      <dgm:prSet presAssocID="{5B0EEC5D-7B1B-455E-A6FF-5F2191250C5F}" presName="sibTrans" presStyleCnt="0"/>
      <dgm:spPr/>
    </dgm:pt>
    <dgm:pt modelId="{C55AC250-ACB1-4F76-B455-5480734112BA}" type="pres">
      <dgm:prSet presAssocID="{4FB901E9-D066-4362-92F2-DF8815919D6A}" presName="compNode" presStyleCnt="0"/>
      <dgm:spPr/>
    </dgm:pt>
    <dgm:pt modelId="{2FB5FDBA-41D2-4D3D-A6BF-203176495602}" type="pres">
      <dgm:prSet presAssocID="{4FB901E9-D066-4362-92F2-DF8815919D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421331F9-EC1E-4CE7-81D1-6B4820236A3A}" type="pres">
      <dgm:prSet presAssocID="{4FB901E9-D066-4362-92F2-DF8815919D6A}" presName="iconSpace" presStyleCnt="0"/>
      <dgm:spPr/>
    </dgm:pt>
    <dgm:pt modelId="{0949A288-A5F0-4A63-B3E5-B6296F9CE7AA}" type="pres">
      <dgm:prSet presAssocID="{4FB901E9-D066-4362-92F2-DF8815919D6A}" presName="parTx" presStyleLbl="revTx" presStyleIdx="2" presStyleCnt="10">
        <dgm:presLayoutVars>
          <dgm:chMax val="0"/>
          <dgm:chPref val="0"/>
        </dgm:presLayoutVars>
      </dgm:prSet>
      <dgm:spPr/>
    </dgm:pt>
    <dgm:pt modelId="{CC4A7110-6B72-4900-A22B-BAD43E1AA9F8}" type="pres">
      <dgm:prSet presAssocID="{4FB901E9-D066-4362-92F2-DF8815919D6A}" presName="txSpace" presStyleCnt="0"/>
      <dgm:spPr/>
    </dgm:pt>
    <dgm:pt modelId="{8728CD3B-6350-477F-9F60-A7395EBDE175}" type="pres">
      <dgm:prSet presAssocID="{4FB901E9-D066-4362-92F2-DF8815919D6A}" presName="desTx" presStyleLbl="revTx" presStyleIdx="3" presStyleCnt="10">
        <dgm:presLayoutVars/>
      </dgm:prSet>
      <dgm:spPr/>
    </dgm:pt>
    <dgm:pt modelId="{EC19B6E8-2408-4052-A888-4E681C9AAAA0}" type="pres">
      <dgm:prSet presAssocID="{121B93BB-F6B1-4CA8-8E70-CF0C0057F5FF}" presName="sibTrans" presStyleCnt="0"/>
      <dgm:spPr/>
    </dgm:pt>
    <dgm:pt modelId="{FBB366B2-D503-4E66-896C-9F1742ECFAAB}" type="pres">
      <dgm:prSet presAssocID="{1BE34EEF-488F-4A43-B035-B66F8FCAA7DF}" presName="compNode" presStyleCnt="0"/>
      <dgm:spPr/>
    </dgm:pt>
    <dgm:pt modelId="{6B43831C-39E0-49B0-A08D-F1E07CC35AF0}" type="pres">
      <dgm:prSet presAssocID="{1BE34EEF-488F-4A43-B035-B66F8FCAA7DF}" presName="iconRect" presStyleLbl="node1" presStyleIdx="2" presStyleCnt="5"/>
      <dgm:spPr>
        <a:ln>
          <a:noFill/>
        </a:ln>
      </dgm:spPr>
    </dgm:pt>
    <dgm:pt modelId="{351BCF03-0215-451D-8552-FDAE80196CDD}" type="pres">
      <dgm:prSet presAssocID="{1BE34EEF-488F-4A43-B035-B66F8FCAA7DF}" presName="iconSpace" presStyleCnt="0"/>
      <dgm:spPr/>
    </dgm:pt>
    <dgm:pt modelId="{1C15D942-C2FB-43A0-AAA3-D6F8764CDE3F}" type="pres">
      <dgm:prSet presAssocID="{1BE34EEF-488F-4A43-B035-B66F8FCAA7DF}" presName="parTx" presStyleLbl="revTx" presStyleIdx="4" presStyleCnt="10">
        <dgm:presLayoutVars>
          <dgm:chMax val="0"/>
          <dgm:chPref val="0"/>
        </dgm:presLayoutVars>
      </dgm:prSet>
      <dgm:spPr/>
    </dgm:pt>
    <dgm:pt modelId="{FA9FDC09-4115-4C5C-A5CD-0EA63328574E}" type="pres">
      <dgm:prSet presAssocID="{1BE34EEF-488F-4A43-B035-B66F8FCAA7DF}" presName="txSpace" presStyleCnt="0"/>
      <dgm:spPr/>
    </dgm:pt>
    <dgm:pt modelId="{13D9A97D-B579-479F-BB59-269DD325F783}" type="pres">
      <dgm:prSet presAssocID="{1BE34EEF-488F-4A43-B035-B66F8FCAA7DF}" presName="desTx" presStyleLbl="revTx" presStyleIdx="5" presStyleCnt="10">
        <dgm:presLayoutVars/>
      </dgm:prSet>
      <dgm:spPr/>
    </dgm:pt>
    <dgm:pt modelId="{9E773429-D06F-4BA4-8416-8605480C98AB}" type="pres">
      <dgm:prSet presAssocID="{53716AF7-2C89-49F1-8199-DC85F815F28E}" presName="sibTrans" presStyleCnt="0"/>
      <dgm:spPr/>
    </dgm:pt>
    <dgm:pt modelId="{77215D65-6AE3-4F90-8FF9-AE03EE5B95AA}" type="pres">
      <dgm:prSet presAssocID="{CF23E46E-B23A-4F03-8696-C11F10E4189E}" presName="compNode" presStyleCnt="0"/>
      <dgm:spPr/>
    </dgm:pt>
    <dgm:pt modelId="{60541A5C-85AC-4BED-8E51-ED41B422685D}" type="pres">
      <dgm:prSet presAssocID="{CF23E46E-B23A-4F03-8696-C11F10E4189E}" presName="iconRect" presStyleLbl="node1" presStyleIdx="3" presStyleCnt="5"/>
      <dgm:spPr>
        <a:ln>
          <a:noFill/>
        </a:ln>
      </dgm:spPr>
    </dgm:pt>
    <dgm:pt modelId="{7F279CC1-CE3A-40BE-865E-3E5A694AC0AD}" type="pres">
      <dgm:prSet presAssocID="{CF23E46E-B23A-4F03-8696-C11F10E4189E}" presName="iconSpace" presStyleCnt="0"/>
      <dgm:spPr/>
    </dgm:pt>
    <dgm:pt modelId="{23A3EC7B-FFB8-4008-B7B0-98A0B70E3215}" type="pres">
      <dgm:prSet presAssocID="{CF23E46E-B23A-4F03-8696-C11F10E4189E}" presName="parTx" presStyleLbl="revTx" presStyleIdx="6" presStyleCnt="10">
        <dgm:presLayoutVars>
          <dgm:chMax val="0"/>
          <dgm:chPref val="0"/>
        </dgm:presLayoutVars>
      </dgm:prSet>
      <dgm:spPr/>
    </dgm:pt>
    <dgm:pt modelId="{163F6A4D-B0F1-4675-BF15-217AE604D1CD}" type="pres">
      <dgm:prSet presAssocID="{CF23E46E-B23A-4F03-8696-C11F10E4189E}" presName="txSpace" presStyleCnt="0"/>
      <dgm:spPr/>
    </dgm:pt>
    <dgm:pt modelId="{35FAA6BA-AAFF-43E9-AF04-2F30E4C02710}" type="pres">
      <dgm:prSet presAssocID="{CF23E46E-B23A-4F03-8696-C11F10E4189E}" presName="desTx" presStyleLbl="revTx" presStyleIdx="7" presStyleCnt="10">
        <dgm:presLayoutVars/>
      </dgm:prSet>
      <dgm:spPr/>
    </dgm:pt>
    <dgm:pt modelId="{6364F211-7815-41AC-979F-7A6B4756649E}" type="pres">
      <dgm:prSet presAssocID="{96F2710D-1FC7-4199-9C61-23F243FC1C1A}" presName="sibTrans" presStyleCnt="0"/>
      <dgm:spPr/>
    </dgm:pt>
    <dgm:pt modelId="{B913D61C-B8EB-40DA-8AFB-BACB50CF6739}" type="pres">
      <dgm:prSet presAssocID="{E15A9EC8-7A57-4153-BFA1-169EFE0DAF01}" presName="compNode" presStyleCnt="0"/>
      <dgm:spPr/>
    </dgm:pt>
    <dgm:pt modelId="{3BA3F096-DBDC-464E-B635-2D237A0B280E}" type="pres">
      <dgm:prSet presAssocID="{E15A9EC8-7A57-4153-BFA1-169EFE0DAF01}" presName="iconRect" presStyleLbl="node1" presStyleIdx="4" presStyleCnt="5"/>
      <dgm:spPr>
        <a:ln>
          <a:noFill/>
        </a:ln>
      </dgm:spPr>
    </dgm:pt>
    <dgm:pt modelId="{A411930F-1FA8-42FD-8172-25ECB5B787EA}" type="pres">
      <dgm:prSet presAssocID="{E15A9EC8-7A57-4153-BFA1-169EFE0DAF01}" presName="iconSpace" presStyleCnt="0"/>
      <dgm:spPr/>
    </dgm:pt>
    <dgm:pt modelId="{3B45C53F-BCB4-4968-9A06-443A37139119}" type="pres">
      <dgm:prSet presAssocID="{E15A9EC8-7A57-4153-BFA1-169EFE0DAF01}" presName="parTx" presStyleLbl="revTx" presStyleIdx="8" presStyleCnt="10">
        <dgm:presLayoutVars>
          <dgm:chMax val="0"/>
          <dgm:chPref val="0"/>
        </dgm:presLayoutVars>
      </dgm:prSet>
      <dgm:spPr/>
    </dgm:pt>
    <dgm:pt modelId="{E067ADCF-D3E6-4D8C-97F6-C9E38951DFDA}" type="pres">
      <dgm:prSet presAssocID="{E15A9EC8-7A57-4153-BFA1-169EFE0DAF01}" presName="txSpace" presStyleCnt="0"/>
      <dgm:spPr/>
    </dgm:pt>
    <dgm:pt modelId="{D427F7C1-AB81-469B-AAD5-C971640E30A2}" type="pres">
      <dgm:prSet presAssocID="{E15A9EC8-7A57-4153-BFA1-169EFE0DAF01}" presName="desTx" presStyleLbl="revTx" presStyleIdx="9" presStyleCnt="10">
        <dgm:presLayoutVars/>
      </dgm:prSet>
      <dgm:spPr/>
    </dgm:pt>
  </dgm:ptLst>
  <dgm:cxnLst>
    <dgm:cxn modelId="{87F6000D-8C20-4BD5-A6C7-4EF3A95407A0}" type="presOf" srcId="{4FB901E9-D066-4362-92F2-DF8815919D6A}" destId="{0949A288-A5F0-4A63-B3E5-B6296F9CE7AA}" srcOrd="0" destOrd="0" presId="urn:microsoft.com/office/officeart/2018/5/layout/CenteredIconLabelDescriptionList"/>
    <dgm:cxn modelId="{2C417025-9708-498B-9211-0BFB45891A67}" srcId="{85A7D4B3-0713-4180-B841-132F4B069C5C}" destId="{E15A9EC8-7A57-4153-BFA1-169EFE0DAF01}" srcOrd="4" destOrd="0" parTransId="{EC70C3F5-3D25-41B5-9EC3-E31BAD90CA1B}" sibTransId="{8F1E8405-2DEE-452E-800A-1C0ACCF66E64}"/>
    <dgm:cxn modelId="{C02C1C31-4401-496A-8781-E066BF49819C}" type="presOf" srcId="{E15A9EC8-7A57-4153-BFA1-169EFE0DAF01}" destId="{3B45C53F-BCB4-4968-9A06-443A37139119}" srcOrd="0" destOrd="0" presId="urn:microsoft.com/office/officeart/2018/5/layout/CenteredIconLabelDescriptionList"/>
    <dgm:cxn modelId="{4A06727D-F3AF-4F6D-9882-D4E0B1E232FC}" srcId="{85A7D4B3-0713-4180-B841-132F4B069C5C}" destId="{3D05C4A1-D101-4B83-91D0-3BEDAA0877BB}" srcOrd="0" destOrd="0" parTransId="{D474935A-3158-40BF-B318-0202EFA65744}" sibTransId="{5B0EEC5D-7B1B-455E-A6FF-5F2191250C5F}"/>
    <dgm:cxn modelId="{10B26B91-CB8A-4944-BAD6-D3069F64F22B}" srcId="{85A7D4B3-0713-4180-B841-132F4B069C5C}" destId="{4FB901E9-D066-4362-92F2-DF8815919D6A}" srcOrd="1" destOrd="0" parTransId="{45006C17-54F2-4F1C-AB33-C0ED49D0E5D2}" sibTransId="{121B93BB-F6B1-4CA8-8E70-CF0C0057F5FF}"/>
    <dgm:cxn modelId="{0823F296-E1B0-46E0-B397-2D6CCF1829AA}" srcId="{85A7D4B3-0713-4180-B841-132F4B069C5C}" destId="{1BE34EEF-488F-4A43-B035-B66F8FCAA7DF}" srcOrd="2" destOrd="0" parTransId="{EB4032A1-1369-4674-AC85-ED0962DFF77C}" sibTransId="{53716AF7-2C89-49F1-8199-DC85F815F28E}"/>
    <dgm:cxn modelId="{10ECE4A6-1CD0-4765-91B8-39EA30D16D52}" type="presOf" srcId="{CF23E46E-B23A-4F03-8696-C11F10E4189E}" destId="{23A3EC7B-FFB8-4008-B7B0-98A0B70E3215}" srcOrd="0" destOrd="0" presId="urn:microsoft.com/office/officeart/2018/5/layout/CenteredIconLabelDescriptionList"/>
    <dgm:cxn modelId="{A9CA23B1-BDAD-49A8-9725-D4E0DC683CA7}" type="presOf" srcId="{3D05C4A1-D101-4B83-91D0-3BEDAA0877BB}" destId="{9A3694A8-5DF5-4FCE-8F20-AE69648B3C9F}" srcOrd="0" destOrd="0" presId="urn:microsoft.com/office/officeart/2018/5/layout/CenteredIconLabelDescriptionList"/>
    <dgm:cxn modelId="{D1D053B3-7AB6-4454-BF4A-E9BC04E37538}" type="presOf" srcId="{1BE34EEF-488F-4A43-B035-B66F8FCAA7DF}" destId="{1C15D942-C2FB-43A0-AAA3-D6F8764CDE3F}" srcOrd="0" destOrd="0" presId="urn:microsoft.com/office/officeart/2018/5/layout/CenteredIconLabelDescriptionList"/>
    <dgm:cxn modelId="{121303EF-D43A-46ED-95CB-112F4AA43113}" type="presOf" srcId="{85A7D4B3-0713-4180-B841-132F4B069C5C}" destId="{BC2E1104-32AE-47AF-A2A4-ACF2B1485265}" srcOrd="0" destOrd="0" presId="urn:microsoft.com/office/officeart/2018/5/layout/CenteredIconLabelDescriptionList"/>
    <dgm:cxn modelId="{F54237F0-C961-45D1-9F1B-71122BE5273D}" srcId="{85A7D4B3-0713-4180-B841-132F4B069C5C}" destId="{CF23E46E-B23A-4F03-8696-C11F10E4189E}" srcOrd="3" destOrd="0" parTransId="{643F950A-2106-49A0-BF0A-06AB32C6F499}" sibTransId="{96F2710D-1FC7-4199-9C61-23F243FC1C1A}"/>
    <dgm:cxn modelId="{026A1C81-C111-45E9-BBEB-11276039DE83}" type="presParOf" srcId="{BC2E1104-32AE-47AF-A2A4-ACF2B1485265}" destId="{AE6A18D0-86C7-4F17-BB4C-39F84D548DFB}" srcOrd="0" destOrd="0" presId="urn:microsoft.com/office/officeart/2018/5/layout/CenteredIconLabelDescriptionList"/>
    <dgm:cxn modelId="{5CA187B3-FBD3-44C0-A6F7-51F6840569A8}" type="presParOf" srcId="{AE6A18D0-86C7-4F17-BB4C-39F84D548DFB}" destId="{DFFFE53F-4368-4B97-A657-AA6E78AA4EF8}" srcOrd="0" destOrd="0" presId="urn:microsoft.com/office/officeart/2018/5/layout/CenteredIconLabelDescriptionList"/>
    <dgm:cxn modelId="{B05C873E-2967-4190-911D-41B77C837E2F}" type="presParOf" srcId="{AE6A18D0-86C7-4F17-BB4C-39F84D548DFB}" destId="{318DD375-79DF-4567-894D-3F5B2826B803}" srcOrd="1" destOrd="0" presId="urn:microsoft.com/office/officeart/2018/5/layout/CenteredIconLabelDescriptionList"/>
    <dgm:cxn modelId="{EFAE751D-50A1-4BC6-8304-0AEFCC9FB78A}" type="presParOf" srcId="{AE6A18D0-86C7-4F17-BB4C-39F84D548DFB}" destId="{9A3694A8-5DF5-4FCE-8F20-AE69648B3C9F}" srcOrd="2" destOrd="0" presId="urn:microsoft.com/office/officeart/2018/5/layout/CenteredIconLabelDescriptionList"/>
    <dgm:cxn modelId="{C9BEF2C2-9D8E-4032-81BD-8A466F1371B1}" type="presParOf" srcId="{AE6A18D0-86C7-4F17-BB4C-39F84D548DFB}" destId="{633710F1-8401-4E77-8E08-CB4BD53FEF9F}" srcOrd="3" destOrd="0" presId="urn:microsoft.com/office/officeart/2018/5/layout/CenteredIconLabelDescriptionList"/>
    <dgm:cxn modelId="{A718D4FE-2FB4-46E6-A73D-A7D3195227CA}" type="presParOf" srcId="{AE6A18D0-86C7-4F17-BB4C-39F84D548DFB}" destId="{8C6F6068-8C01-4D90-B5BA-FC9DEA47B0A3}" srcOrd="4" destOrd="0" presId="urn:microsoft.com/office/officeart/2018/5/layout/CenteredIconLabelDescriptionList"/>
    <dgm:cxn modelId="{6B1EFB2A-FD7E-43E0-BE7D-33A897628DCF}" type="presParOf" srcId="{BC2E1104-32AE-47AF-A2A4-ACF2B1485265}" destId="{019FC3C1-E757-46B6-9FAD-F2D808B2B76F}" srcOrd="1" destOrd="0" presId="urn:microsoft.com/office/officeart/2018/5/layout/CenteredIconLabelDescriptionList"/>
    <dgm:cxn modelId="{E5062410-1AF0-4367-8A26-4ACE904AC99F}" type="presParOf" srcId="{BC2E1104-32AE-47AF-A2A4-ACF2B1485265}" destId="{C55AC250-ACB1-4F76-B455-5480734112BA}" srcOrd="2" destOrd="0" presId="urn:microsoft.com/office/officeart/2018/5/layout/CenteredIconLabelDescriptionList"/>
    <dgm:cxn modelId="{B450BFC7-761E-4B0E-A16E-9083914DB7CD}" type="presParOf" srcId="{C55AC250-ACB1-4F76-B455-5480734112BA}" destId="{2FB5FDBA-41D2-4D3D-A6BF-203176495602}" srcOrd="0" destOrd="0" presId="urn:microsoft.com/office/officeart/2018/5/layout/CenteredIconLabelDescriptionList"/>
    <dgm:cxn modelId="{486F140F-12BA-4BE3-A6A5-292F43F21936}" type="presParOf" srcId="{C55AC250-ACB1-4F76-B455-5480734112BA}" destId="{421331F9-EC1E-4CE7-81D1-6B4820236A3A}" srcOrd="1" destOrd="0" presId="urn:microsoft.com/office/officeart/2018/5/layout/CenteredIconLabelDescriptionList"/>
    <dgm:cxn modelId="{4C37176A-9BB9-4141-99C8-B4697E990310}" type="presParOf" srcId="{C55AC250-ACB1-4F76-B455-5480734112BA}" destId="{0949A288-A5F0-4A63-B3E5-B6296F9CE7AA}" srcOrd="2" destOrd="0" presId="urn:microsoft.com/office/officeart/2018/5/layout/CenteredIconLabelDescriptionList"/>
    <dgm:cxn modelId="{1AA26A6D-5C14-4E69-A115-F85E859E2FC1}" type="presParOf" srcId="{C55AC250-ACB1-4F76-B455-5480734112BA}" destId="{CC4A7110-6B72-4900-A22B-BAD43E1AA9F8}" srcOrd="3" destOrd="0" presId="urn:microsoft.com/office/officeart/2018/5/layout/CenteredIconLabelDescriptionList"/>
    <dgm:cxn modelId="{B4F67BC5-E221-49DF-9038-5BE5559A718E}" type="presParOf" srcId="{C55AC250-ACB1-4F76-B455-5480734112BA}" destId="{8728CD3B-6350-477F-9F60-A7395EBDE175}" srcOrd="4" destOrd="0" presId="urn:microsoft.com/office/officeart/2018/5/layout/CenteredIconLabelDescriptionList"/>
    <dgm:cxn modelId="{632D432A-E3A1-462B-82D9-2D9C16F6922D}" type="presParOf" srcId="{BC2E1104-32AE-47AF-A2A4-ACF2B1485265}" destId="{EC19B6E8-2408-4052-A888-4E681C9AAAA0}" srcOrd="3" destOrd="0" presId="urn:microsoft.com/office/officeart/2018/5/layout/CenteredIconLabelDescriptionList"/>
    <dgm:cxn modelId="{07FC01E1-CE6D-40F1-8A34-1EC9CE780979}" type="presParOf" srcId="{BC2E1104-32AE-47AF-A2A4-ACF2B1485265}" destId="{FBB366B2-D503-4E66-896C-9F1742ECFAAB}" srcOrd="4" destOrd="0" presId="urn:microsoft.com/office/officeart/2018/5/layout/CenteredIconLabelDescriptionList"/>
    <dgm:cxn modelId="{FC8557AB-9C81-459E-B19C-C194A15B09F2}" type="presParOf" srcId="{FBB366B2-D503-4E66-896C-9F1742ECFAAB}" destId="{6B43831C-39E0-49B0-A08D-F1E07CC35AF0}" srcOrd="0" destOrd="0" presId="urn:microsoft.com/office/officeart/2018/5/layout/CenteredIconLabelDescriptionList"/>
    <dgm:cxn modelId="{12C04241-6EEC-406F-B6EE-B250C9AE5474}" type="presParOf" srcId="{FBB366B2-D503-4E66-896C-9F1742ECFAAB}" destId="{351BCF03-0215-451D-8552-FDAE80196CDD}" srcOrd="1" destOrd="0" presId="urn:microsoft.com/office/officeart/2018/5/layout/CenteredIconLabelDescriptionList"/>
    <dgm:cxn modelId="{101975B1-5BA1-41AC-A409-FE2F5323D9CD}" type="presParOf" srcId="{FBB366B2-D503-4E66-896C-9F1742ECFAAB}" destId="{1C15D942-C2FB-43A0-AAA3-D6F8764CDE3F}" srcOrd="2" destOrd="0" presId="urn:microsoft.com/office/officeart/2018/5/layout/CenteredIconLabelDescriptionList"/>
    <dgm:cxn modelId="{4EEBDC81-2418-478E-AA60-5EC7B46C011B}" type="presParOf" srcId="{FBB366B2-D503-4E66-896C-9F1742ECFAAB}" destId="{FA9FDC09-4115-4C5C-A5CD-0EA63328574E}" srcOrd="3" destOrd="0" presId="urn:microsoft.com/office/officeart/2018/5/layout/CenteredIconLabelDescriptionList"/>
    <dgm:cxn modelId="{CC7268A9-9A84-4C12-A492-95CF230E0D88}" type="presParOf" srcId="{FBB366B2-D503-4E66-896C-9F1742ECFAAB}" destId="{13D9A97D-B579-479F-BB59-269DD325F783}" srcOrd="4" destOrd="0" presId="urn:microsoft.com/office/officeart/2018/5/layout/CenteredIconLabelDescriptionList"/>
    <dgm:cxn modelId="{7F4C59F0-FD28-4DF2-9281-3EEA625D7A2D}" type="presParOf" srcId="{BC2E1104-32AE-47AF-A2A4-ACF2B1485265}" destId="{9E773429-D06F-4BA4-8416-8605480C98AB}" srcOrd="5" destOrd="0" presId="urn:microsoft.com/office/officeart/2018/5/layout/CenteredIconLabelDescriptionList"/>
    <dgm:cxn modelId="{80336D7B-33E4-410D-8D82-2E724DFAA9B8}" type="presParOf" srcId="{BC2E1104-32AE-47AF-A2A4-ACF2B1485265}" destId="{77215D65-6AE3-4F90-8FF9-AE03EE5B95AA}" srcOrd="6" destOrd="0" presId="urn:microsoft.com/office/officeart/2018/5/layout/CenteredIconLabelDescriptionList"/>
    <dgm:cxn modelId="{D2609333-F98B-46EB-A799-C2BC2DC166EF}" type="presParOf" srcId="{77215D65-6AE3-4F90-8FF9-AE03EE5B95AA}" destId="{60541A5C-85AC-4BED-8E51-ED41B422685D}" srcOrd="0" destOrd="0" presId="urn:microsoft.com/office/officeart/2018/5/layout/CenteredIconLabelDescriptionList"/>
    <dgm:cxn modelId="{4206151D-83AC-46E3-AA28-ADC4ED0CED98}" type="presParOf" srcId="{77215D65-6AE3-4F90-8FF9-AE03EE5B95AA}" destId="{7F279CC1-CE3A-40BE-865E-3E5A694AC0AD}" srcOrd="1" destOrd="0" presId="urn:microsoft.com/office/officeart/2018/5/layout/CenteredIconLabelDescriptionList"/>
    <dgm:cxn modelId="{3DAEC2A7-C6BC-4844-89BC-494DBF822108}" type="presParOf" srcId="{77215D65-6AE3-4F90-8FF9-AE03EE5B95AA}" destId="{23A3EC7B-FFB8-4008-B7B0-98A0B70E3215}" srcOrd="2" destOrd="0" presId="urn:microsoft.com/office/officeart/2018/5/layout/CenteredIconLabelDescriptionList"/>
    <dgm:cxn modelId="{7CB40CF6-2C77-4665-8672-299D279F0B94}" type="presParOf" srcId="{77215D65-6AE3-4F90-8FF9-AE03EE5B95AA}" destId="{163F6A4D-B0F1-4675-BF15-217AE604D1CD}" srcOrd="3" destOrd="0" presId="urn:microsoft.com/office/officeart/2018/5/layout/CenteredIconLabelDescriptionList"/>
    <dgm:cxn modelId="{E253BD81-B176-456C-9CAB-0DA55AED0B88}" type="presParOf" srcId="{77215D65-6AE3-4F90-8FF9-AE03EE5B95AA}" destId="{35FAA6BA-AAFF-43E9-AF04-2F30E4C02710}" srcOrd="4" destOrd="0" presId="urn:microsoft.com/office/officeart/2018/5/layout/CenteredIconLabelDescriptionList"/>
    <dgm:cxn modelId="{A1277411-BF5F-4F3B-9FA6-8BBFCDE99F49}" type="presParOf" srcId="{BC2E1104-32AE-47AF-A2A4-ACF2B1485265}" destId="{6364F211-7815-41AC-979F-7A6B4756649E}" srcOrd="7" destOrd="0" presId="urn:microsoft.com/office/officeart/2018/5/layout/CenteredIconLabelDescriptionList"/>
    <dgm:cxn modelId="{4E2D9108-858B-4AAA-8F25-846E053AF889}" type="presParOf" srcId="{BC2E1104-32AE-47AF-A2A4-ACF2B1485265}" destId="{B913D61C-B8EB-40DA-8AFB-BACB50CF6739}" srcOrd="8" destOrd="0" presId="urn:microsoft.com/office/officeart/2018/5/layout/CenteredIconLabelDescriptionList"/>
    <dgm:cxn modelId="{807EE2FC-1B14-4D68-A7F5-88721726FBDF}" type="presParOf" srcId="{B913D61C-B8EB-40DA-8AFB-BACB50CF6739}" destId="{3BA3F096-DBDC-464E-B635-2D237A0B280E}" srcOrd="0" destOrd="0" presId="urn:microsoft.com/office/officeart/2018/5/layout/CenteredIconLabelDescriptionList"/>
    <dgm:cxn modelId="{2C076B18-B78A-4BD2-8063-79CB0395AEE1}" type="presParOf" srcId="{B913D61C-B8EB-40DA-8AFB-BACB50CF6739}" destId="{A411930F-1FA8-42FD-8172-25ECB5B787EA}" srcOrd="1" destOrd="0" presId="urn:microsoft.com/office/officeart/2018/5/layout/CenteredIconLabelDescriptionList"/>
    <dgm:cxn modelId="{65AEB98E-5A96-4942-BF8A-CA78E53A307F}" type="presParOf" srcId="{B913D61C-B8EB-40DA-8AFB-BACB50CF6739}" destId="{3B45C53F-BCB4-4968-9A06-443A37139119}" srcOrd="2" destOrd="0" presId="urn:microsoft.com/office/officeart/2018/5/layout/CenteredIconLabelDescriptionList"/>
    <dgm:cxn modelId="{D2443AA8-000C-46E2-B5C0-5D43E5F0A5AD}" type="presParOf" srcId="{B913D61C-B8EB-40DA-8AFB-BACB50CF6739}" destId="{E067ADCF-D3E6-4D8C-97F6-C9E38951DFDA}" srcOrd="3" destOrd="0" presId="urn:microsoft.com/office/officeart/2018/5/layout/CenteredIconLabelDescriptionList"/>
    <dgm:cxn modelId="{77FAF74C-3FB7-4E1B-A34F-8B3ED6C117FE}" type="presParOf" srcId="{B913D61C-B8EB-40DA-8AFB-BACB50CF6739}" destId="{D427F7C1-AB81-469B-AAD5-C971640E30A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D6FFEB-2AE0-4653-BA24-4753DFC604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590CA5-9388-4F15-9F06-68591FEB5236}">
      <dgm:prSet/>
      <dgm:spPr/>
      <dgm:t>
        <a:bodyPr/>
        <a:lstStyle/>
        <a:p>
          <a:r>
            <a:rPr lang="tr-TR" b="1"/>
            <a:t>1. XMLHttpRequest (XHR) ve Asenkron Devrim</a:t>
          </a:r>
          <a:endParaRPr lang="en-US"/>
        </a:p>
      </dgm:t>
    </dgm:pt>
    <dgm:pt modelId="{A74E4E35-36F4-49F5-A61F-DE6F6CD29591}" type="parTrans" cxnId="{24C2AF4D-FDB8-4BB4-BB39-26F12F164B46}">
      <dgm:prSet/>
      <dgm:spPr/>
      <dgm:t>
        <a:bodyPr/>
        <a:lstStyle/>
        <a:p>
          <a:endParaRPr lang="en-US"/>
        </a:p>
      </dgm:t>
    </dgm:pt>
    <dgm:pt modelId="{2BE96D41-49F0-4F68-8223-6207089D3A42}" type="sibTrans" cxnId="{24C2AF4D-FDB8-4BB4-BB39-26F12F164B46}">
      <dgm:prSet/>
      <dgm:spPr/>
      <dgm:t>
        <a:bodyPr/>
        <a:lstStyle/>
        <a:p>
          <a:endParaRPr lang="en-US"/>
        </a:p>
      </dgm:t>
    </dgm:pt>
    <dgm:pt modelId="{D3576A28-2E6F-43A5-98A5-59B76254E49F}">
      <dgm:prSet/>
      <dgm:spPr/>
      <dgm:t>
        <a:bodyPr/>
        <a:lstStyle/>
        <a:p>
          <a:r>
            <a:rPr lang="tr-TR" b="1"/>
            <a:t>Geleneksel Model:</a:t>
          </a:r>
          <a:r>
            <a:rPr lang="tr-TR"/>
            <a:t> Her etkileşimde tüm binanın yıkılıp yeniden yapılması (Full-page refresh).</a:t>
          </a:r>
          <a:endParaRPr lang="en-US"/>
        </a:p>
      </dgm:t>
    </dgm:pt>
    <dgm:pt modelId="{D9A72931-F330-43F8-838A-B6AADA5CC6DD}" type="parTrans" cxnId="{C0275BDA-DC3F-4BAF-A5FE-9BC6E70A0A0D}">
      <dgm:prSet/>
      <dgm:spPr/>
      <dgm:t>
        <a:bodyPr/>
        <a:lstStyle/>
        <a:p>
          <a:endParaRPr lang="en-US"/>
        </a:p>
      </dgm:t>
    </dgm:pt>
    <dgm:pt modelId="{232D8386-7081-42A5-BE10-ADC429F2BEA4}" type="sibTrans" cxnId="{C0275BDA-DC3F-4BAF-A5FE-9BC6E70A0A0D}">
      <dgm:prSet/>
      <dgm:spPr/>
      <dgm:t>
        <a:bodyPr/>
        <a:lstStyle/>
        <a:p>
          <a:endParaRPr lang="en-US"/>
        </a:p>
      </dgm:t>
    </dgm:pt>
    <dgm:pt modelId="{2CA3A762-5518-49C5-B99A-3EE276CA96AA}">
      <dgm:prSet/>
      <dgm:spPr/>
      <dgm:t>
        <a:bodyPr/>
        <a:lstStyle/>
        <a:p>
          <a:r>
            <a:rPr lang="tr-TR" b="1"/>
            <a:t>XHR (Arka Kapı Postacısı):</a:t>
          </a:r>
          <a:r>
            <a:rPr lang="tr-TR"/>
            <a:t> Kullanıcı sayfayı kullanmaya devam ederken, arka planda sadece gerekli </a:t>
          </a:r>
          <a:r>
            <a:rPr lang="tr-TR" b="1"/>
            <a:t>veriyi</a:t>
          </a:r>
          <a:r>
            <a:rPr lang="tr-TR"/>
            <a:t> çekme yeteneği.</a:t>
          </a:r>
          <a:endParaRPr lang="en-US"/>
        </a:p>
      </dgm:t>
    </dgm:pt>
    <dgm:pt modelId="{F77BC1B5-22BD-4977-8EA4-374137809F75}" type="parTrans" cxnId="{5BDBCB7C-6F8A-43B7-BF64-EAA6C1F5B03D}">
      <dgm:prSet/>
      <dgm:spPr/>
      <dgm:t>
        <a:bodyPr/>
        <a:lstStyle/>
        <a:p>
          <a:endParaRPr lang="en-US"/>
        </a:p>
      </dgm:t>
    </dgm:pt>
    <dgm:pt modelId="{D3FD7D81-5CBD-4C1D-BCB2-58F1E9B94EC6}" type="sibTrans" cxnId="{5BDBCB7C-6F8A-43B7-BF64-EAA6C1F5B03D}">
      <dgm:prSet/>
      <dgm:spPr/>
      <dgm:t>
        <a:bodyPr/>
        <a:lstStyle/>
        <a:p>
          <a:endParaRPr lang="en-US"/>
        </a:p>
      </dgm:t>
    </dgm:pt>
    <dgm:pt modelId="{0467098D-B885-44F4-927E-288A179DFB2D}">
      <dgm:prSet/>
      <dgm:spPr/>
      <dgm:t>
        <a:bodyPr/>
        <a:lstStyle/>
        <a:p>
          <a:r>
            <a:rPr lang="tr-TR" b="1"/>
            <a:t>Asenkron Yapı:</a:t>
          </a:r>
          <a:r>
            <a:rPr lang="tr-TR"/>
            <a:t> "Yanıt gelene kadar hayat durmaz." Veri transferi sırasında sayfa donmaz, kesintisiz etkileşim sağlanır.</a:t>
          </a:r>
          <a:endParaRPr lang="en-US"/>
        </a:p>
      </dgm:t>
    </dgm:pt>
    <dgm:pt modelId="{61816A17-4D1D-4544-B7C9-034BB6330952}" type="parTrans" cxnId="{49E7F5F0-C3E9-44F0-9458-23584CDCBA55}">
      <dgm:prSet/>
      <dgm:spPr/>
      <dgm:t>
        <a:bodyPr/>
        <a:lstStyle/>
        <a:p>
          <a:endParaRPr lang="en-US"/>
        </a:p>
      </dgm:t>
    </dgm:pt>
    <dgm:pt modelId="{D7D3D474-9EF9-4689-AC1E-9F403DDD8C97}" type="sibTrans" cxnId="{49E7F5F0-C3E9-44F0-9458-23584CDCBA55}">
      <dgm:prSet/>
      <dgm:spPr/>
      <dgm:t>
        <a:bodyPr/>
        <a:lstStyle/>
        <a:p>
          <a:endParaRPr lang="en-US"/>
        </a:p>
      </dgm:t>
    </dgm:pt>
    <dgm:pt modelId="{CF0BC714-F127-42F1-9D36-FDF4E2C707A0}">
      <dgm:prSet/>
      <dgm:spPr/>
      <dgm:t>
        <a:bodyPr/>
        <a:lstStyle/>
        <a:p>
          <a:r>
            <a:rPr lang="tr-TR" b="1"/>
            <a:t>2. DOM Manipülasyonu: "Sayfa"dan "Uygulama"ya</a:t>
          </a:r>
          <a:endParaRPr lang="en-US"/>
        </a:p>
      </dgm:t>
    </dgm:pt>
    <dgm:pt modelId="{6F8ACC56-EA77-4065-9AEB-1FB64CC3A18B}" type="parTrans" cxnId="{583AB701-2049-427C-882A-4AAE602C2DCC}">
      <dgm:prSet/>
      <dgm:spPr/>
      <dgm:t>
        <a:bodyPr/>
        <a:lstStyle/>
        <a:p>
          <a:endParaRPr lang="en-US"/>
        </a:p>
      </dgm:t>
    </dgm:pt>
    <dgm:pt modelId="{0FE6ECC0-AF66-49F6-815E-03C565EC619E}" type="sibTrans" cxnId="{583AB701-2049-427C-882A-4AAE602C2DCC}">
      <dgm:prSet/>
      <dgm:spPr/>
      <dgm:t>
        <a:bodyPr/>
        <a:lstStyle/>
        <a:p>
          <a:endParaRPr lang="en-US"/>
        </a:p>
      </dgm:t>
    </dgm:pt>
    <dgm:pt modelId="{00C597AF-7370-42DA-AB2D-585342E7E031}">
      <dgm:prSet/>
      <dgm:spPr/>
      <dgm:t>
        <a:bodyPr/>
        <a:lstStyle/>
        <a:p>
          <a:r>
            <a:rPr lang="tr-TR" b="1"/>
            <a:t>DOM (Document Object Model):</a:t>
          </a:r>
          <a:r>
            <a:rPr lang="tr-TR"/>
            <a:t> Tarayıcının HTML kodunu yaşayan bir ağaç yapısı olarak hafızaya alması.</a:t>
          </a:r>
          <a:endParaRPr lang="en-US"/>
        </a:p>
      </dgm:t>
    </dgm:pt>
    <dgm:pt modelId="{5558C5D5-85A4-4EBD-BD52-1AF7C7C59E69}" type="parTrans" cxnId="{FD5E1BDA-EF75-4BA3-BFE6-4F6EC0B08798}">
      <dgm:prSet/>
      <dgm:spPr/>
      <dgm:t>
        <a:bodyPr/>
        <a:lstStyle/>
        <a:p>
          <a:endParaRPr lang="en-US"/>
        </a:p>
      </dgm:t>
    </dgm:pt>
    <dgm:pt modelId="{80EB5C26-E42B-4D23-820A-7ABBAD307E8D}" type="sibTrans" cxnId="{FD5E1BDA-EF75-4BA3-BFE6-4F6EC0B08798}">
      <dgm:prSet/>
      <dgm:spPr/>
      <dgm:t>
        <a:bodyPr/>
        <a:lstStyle/>
        <a:p>
          <a:endParaRPr lang="en-US"/>
        </a:p>
      </dgm:t>
    </dgm:pt>
    <dgm:pt modelId="{098BCAA8-E058-48E5-A6F2-6AD210BA8A54}">
      <dgm:prSet/>
      <dgm:spPr/>
      <dgm:t>
        <a:bodyPr/>
        <a:lstStyle/>
        <a:p>
          <a:r>
            <a:rPr lang="tr-TR" b="1"/>
            <a:t>Canlı Müdahale:</a:t>
          </a:r>
          <a:r>
            <a:rPr lang="tr-TR"/>
            <a:t> JavaScript'in bu ağacın dallarını (elementleri) anlık olarak kesme, ekleme veya güncelleme yetkisi.</a:t>
          </a:r>
          <a:endParaRPr lang="en-US"/>
        </a:p>
      </dgm:t>
    </dgm:pt>
    <dgm:pt modelId="{51429CB1-B5AD-4738-BBD6-AF14633B3293}" type="parTrans" cxnId="{715F89F8-43C7-4385-81FF-751C4D498B89}">
      <dgm:prSet/>
      <dgm:spPr/>
      <dgm:t>
        <a:bodyPr/>
        <a:lstStyle/>
        <a:p>
          <a:endParaRPr lang="en-US"/>
        </a:p>
      </dgm:t>
    </dgm:pt>
    <dgm:pt modelId="{25501BAB-2E21-483B-8070-48F65D942C81}" type="sibTrans" cxnId="{715F89F8-43C7-4385-81FF-751C4D498B89}">
      <dgm:prSet/>
      <dgm:spPr/>
      <dgm:t>
        <a:bodyPr/>
        <a:lstStyle/>
        <a:p>
          <a:endParaRPr lang="en-US"/>
        </a:p>
      </dgm:t>
    </dgm:pt>
    <dgm:pt modelId="{289A0821-CDCB-49D3-AC6B-2A7EC20C47ED}">
      <dgm:prSet/>
      <dgm:spPr/>
      <dgm:t>
        <a:bodyPr/>
        <a:lstStyle/>
        <a:p>
          <a:r>
            <a:rPr lang="tr-TR" b="1"/>
            <a:t>Dinamik Güncelleme:</a:t>
          </a:r>
          <a:r>
            <a:rPr lang="tr-TR"/>
            <a:t> Sayfa yenilenmeden güncellenen sepet tutarı veya canlı skorlar. Web siteleri artık birer </a:t>
          </a:r>
          <a:r>
            <a:rPr lang="tr-TR" b="1"/>
            <a:t>"Web App"</a:t>
          </a:r>
          <a:r>
            <a:rPr lang="tr-TR"/>
            <a:t> halini aldı.</a:t>
          </a:r>
          <a:endParaRPr lang="en-US"/>
        </a:p>
      </dgm:t>
    </dgm:pt>
    <dgm:pt modelId="{051A1FE7-C6E3-4277-9786-9F8905A615C0}" type="parTrans" cxnId="{3220E9A1-0D8D-48E8-A322-4D54F79338E0}">
      <dgm:prSet/>
      <dgm:spPr/>
      <dgm:t>
        <a:bodyPr/>
        <a:lstStyle/>
        <a:p>
          <a:endParaRPr lang="en-US"/>
        </a:p>
      </dgm:t>
    </dgm:pt>
    <dgm:pt modelId="{1343E0BF-2515-4326-934C-5CD868281356}" type="sibTrans" cxnId="{3220E9A1-0D8D-48E8-A322-4D54F79338E0}">
      <dgm:prSet/>
      <dgm:spPr/>
      <dgm:t>
        <a:bodyPr/>
        <a:lstStyle/>
        <a:p>
          <a:endParaRPr lang="en-US"/>
        </a:p>
      </dgm:t>
    </dgm:pt>
    <dgm:pt modelId="{F7FE0E82-2B89-4211-A4F8-F01110E5B908}">
      <dgm:prSet/>
      <dgm:spPr/>
      <dgm:t>
        <a:bodyPr/>
        <a:lstStyle/>
        <a:p>
          <a:r>
            <a:rPr lang="tr-TR" b="1"/>
            <a:t>3. Motorların Savaşı (V8 ve Performans)</a:t>
          </a:r>
          <a:endParaRPr lang="en-US"/>
        </a:p>
      </dgm:t>
    </dgm:pt>
    <dgm:pt modelId="{0718867F-7F8C-4134-9D98-BBD288A1A44A}" type="parTrans" cxnId="{0D93DE50-348C-4093-8BC1-DF09FCA67A99}">
      <dgm:prSet/>
      <dgm:spPr/>
      <dgm:t>
        <a:bodyPr/>
        <a:lstStyle/>
        <a:p>
          <a:endParaRPr lang="en-US"/>
        </a:p>
      </dgm:t>
    </dgm:pt>
    <dgm:pt modelId="{B9DD0DA2-F6DE-46EC-8E41-0BA77553F0B4}" type="sibTrans" cxnId="{0D93DE50-348C-4093-8BC1-DF09FCA67A99}">
      <dgm:prSet/>
      <dgm:spPr/>
      <dgm:t>
        <a:bodyPr/>
        <a:lstStyle/>
        <a:p>
          <a:endParaRPr lang="en-US"/>
        </a:p>
      </dgm:t>
    </dgm:pt>
    <dgm:pt modelId="{8878F5DF-FF6E-471A-8A8F-C6458359C021}">
      <dgm:prSet/>
      <dgm:spPr/>
      <dgm:t>
        <a:bodyPr/>
        <a:lstStyle/>
        <a:p>
          <a:r>
            <a:rPr lang="tr-TR" b="1"/>
            <a:t>V8 Devrimi:</a:t>
          </a:r>
          <a:r>
            <a:rPr lang="tr-TR"/>
            <a:t> JavaScript'in "satır satır okunmak" yerine makine diline derlenerek (JIT) ışık hızına ulaşması.</a:t>
          </a:r>
          <a:endParaRPr lang="en-US"/>
        </a:p>
      </dgm:t>
    </dgm:pt>
    <dgm:pt modelId="{04F133A4-1900-459F-8DF0-28443CE8AF26}" type="parTrans" cxnId="{FD1C051F-6DDE-4D34-867F-25DFA177BF4B}">
      <dgm:prSet/>
      <dgm:spPr/>
      <dgm:t>
        <a:bodyPr/>
        <a:lstStyle/>
        <a:p>
          <a:endParaRPr lang="en-US"/>
        </a:p>
      </dgm:t>
    </dgm:pt>
    <dgm:pt modelId="{1D3E28D0-2D18-40F7-A9D0-1D96001F4B29}" type="sibTrans" cxnId="{FD1C051F-6DDE-4D34-867F-25DFA177BF4B}">
      <dgm:prSet/>
      <dgm:spPr/>
      <dgm:t>
        <a:bodyPr/>
        <a:lstStyle/>
        <a:p>
          <a:endParaRPr lang="en-US"/>
        </a:p>
      </dgm:t>
    </dgm:pt>
    <dgm:pt modelId="{FA4962AA-D18C-426E-8C85-CB7B1F58B9DF}">
      <dgm:prSet/>
      <dgm:spPr/>
      <dgm:t>
        <a:bodyPr/>
        <a:lstStyle/>
        <a:p>
          <a:r>
            <a:rPr lang="tr-TR" b="1"/>
            <a:t>Güç Transferi:</a:t>
          </a:r>
          <a:r>
            <a:rPr lang="tr-TR"/>
            <a:t> Karmaşık işleme yükünün sunucudan (Server) kullanıcının cihazına (Client) taşınması.</a:t>
          </a:r>
          <a:endParaRPr lang="en-US"/>
        </a:p>
      </dgm:t>
    </dgm:pt>
    <dgm:pt modelId="{91CADB8D-40FB-421B-8C4D-935410D4EE70}" type="parTrans" cxnId="{86B154EA-9F1B-419C-A736-0DB48DD8C032}">
      <dgm:prSet/>
      <dgm:spPr/>
      <dgm:t>
        <a:bodyPr/>
        <a:lstStyle/>
        <a:p>
          <a:endParaRPr lang="en-US"/>
        </a:p>
      </dgm:t>
    </dgm:pt>
    <dgm:pt modelId="{CCEBEFE6-D03D-4294-8736-FBCFF0D1AAA7}" type="sibTrans" cxnId="{86B154EA-9F1B-419C-A736-0DB48DD8C032}">
      <dgm:prSet/>
      <dgm:spPr/>
      <dgm:t>
        <a:bodyPr/>
        <a:lstStyle/>
        <a:p>
          <a:endParaRPr lang="en-US"/>
        </a:p>
      </dgm:t>
    </dgm:pt>
    <dgm:pt modelId="{5DA6DCA4-A0FA-42B8-9242-B440D7DF4CA5}">
      <dgm:prSet/>
      <dgm:spPr/>
      <dgm:t>
        <a:bodyPr/>
        <a:lstStyle/>
        <a:p>
          <a:r>
            <a:rPr lang="tr-TR" b="1"/>
            <a:t>Sonuç:</a:t>
          </a:r>
          <a:r>
            <a:rPr lang="tr-TR"/>
            <a:t> Tarayıcıların basit birer görüntüleyici değil, güçlü birer </a:t>
          </a:r>
          <a:r>
            <a:rPr lang="tr-TR" b="1"/>
            <a:t>çalıştırma ortamı (runtime)</a:t>
          </a:r>
          <a:r>
            <a:rPr lang="tr-TR"/>
            <a:t> olması.</a:t>
          </a:r>
          <a:endParaRPr lang="en-US"/>
        </a:p>
      </dgm:t>
    </dgm:pt>
    <dgm:pt modelId="{D7B1C1D0-B30D-4B40-921B-1E1162FE36AB}" type="parTrans" cxnId="{E73936F6-EF26-48FC-B3D1-D6FB3A317F9E}">
      <dgm:prSet/>
      <dgm:spPr/>
      <dgm:t>
        <a:bodyPr/>
        <a:lstStyle/>
        <a:p>
          <a:endParaRPr lang="en-US"/>
        </a:p>
      </dgm:t>
    </dgm:pt>
    <dgm:pt modelId="{A447D085-3F2C-40BC-9FA6-E42E15A93B39}" type="sibTrans" cxnId="{E73936F6-EF26-48FC-B3D1-D6FB3A317F9E}">
      <dgm:prSet/>
      <dgm:spPr/>
      <dgm:t>
        <a:bodyPr/>
        <a:lstStyle/>
        <a:p>
          <a:endParaRPr lang="en-US"/>
        </a:p>
      </dgm:t>
    </dgm:pt>
    <dgm:pt modelId="{B8B34FC0-62AF-43B8-AA0C-0B79FDAE46A1}" type="pres">
      <dgm:prSet presAssocID="{A7D6FFEB-2AE0-4653-BA24-4753DFC60412}" presName="linear" presStyleCnt="0">
        <dgm:presLayoutVars>
          <dgm:animLvl val="lvl"/>
          <dgm:resizeHandles val="exact"/>
        </dgm:presLayoutVars>
      </dgm:prSet>
      <dgm:spPr/>
    </dgm:pt>
    <dgm:pt modelId="{BE28B84F-6C32-4B4B-81B8-8DD5EE2C12AD}" type="pres">
      <dgm:prSet presAssocID="{F6590CA5-9388-4F15-9F06-68591FEB523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77F6BE8-BC60-4CEB-AC46-43D476A3A80F}" type="pres">
      <dgm:prSet presAssocID="{F6590CA5-9388-4F15-9F06-68591FEB5236}" presName="childText" presStyleLbl="revTx" presStyleIdx="0" presStyleCnt="3">
        <dgm:presLayoutVars>
          <dgm:bulletEnabled val="1"/>
        </dgm:presLayoutVars>
      </dgm:prSet>
      <dgm:spPr/>
    </dgm:pt>
    <dgm:pt modelId="{CC9D44CE-22F7-4E00-9BA9-C88CB61CBA56}" type="pres">
      <dgm:prSet presAssocID="{CF0BC714-F127-42F1-9D36-FDF4E2C707A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B97875-61B9-4824-ACF3-E7CDFB240AF3}" type="pres">
      <dgm:prSet presAssocID="{CF0BC714-F127-42F1-9D36-FDF4E2C707A0}" presName="childText" presStyleLbl="revTx" presStyleIdx="1" presStyleCnt="3">
        <dgm:presLayoutVars>
          <dgm:bulletEnabled val="1"/>
        </dgm:presLayoutVars>
      </dgm:prSet>
      <dgm:spPr/>
    </dgm:pt>
    <dgm:pt modelId="{43A94D63-F87D-435D-AD8B-7A3B5E3D54CF}" type="pres">
      <dgm:prSet presAssocID="{F7FE0E82-2B89-4211-A4F8-F01110E5B90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4E1F0B0-60B0-4905-8C67-2D6DE82A5520}" type="pres">
      <dgm:prSet presAssocID="{F7FE0E82-2B89-4211-A4F8-F01110E5B90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83AB701-2049-427C-882A-4AAE602C2DCC}" srcId="{A7D6FFEB-2AE0-4653-BA24-4753DFC60412}" destId="{CF0BC714-F127-42F1-9D36-FDF4E2C707A0}" srcOrd="1" destOrd="0" parTransId="{6F8ACC56-EA77-4065-9AEB-1FB64CC3A18B}" sibTransId="{0FE6ECC0-AF66-49F6-815E-03C565EC619E}"/>
    <dgm:cxn modelId="{AD80B30E-AAF7-4578-8CA7-EADB048046B5}" type="presOf" srcId="{D3576A28-2E6F-43A5-98A5-59B76254E49F}" destId="{B77F6BE8-BC60-4CEB-AC46-43D476A3A80F}" srcOrd="0" destOrd="0" presId="urn:microsoft.com/office/officeart/2005/8/layout/vList2"/>
    <dgm:cxn modelId="{F53DFD17-822C-4AAF-AC89-FA8983F245FF}" type="presOf" srcId="{098BCAA8-E058-48E5-A6F2-6AD210BA8A54}" destId="{88B97875-61B9-4824-ACF3-E7CDFB240AF3}" srcOrd="0" destOrd="1" presId="urn:microsoft.com/office/officeart/2005/8/layout/vList2"/>
    <dgm:cxn modelId="{FD1C051F-6DDE-4D34-867F-25DFA177BF4B}" srcId="{F7FE0E82-2B89-4211-A4F8-F01110E5B908}" destId="{8878F5DF-FF6E-471A-8A8F-C6458359C021}" srcOrd="0" destOrd="0" parTransId="{04F133A4-1900-459F-8DF0-28443CE8AF26}" sibTransId="{1D3E28D0-2D18-40F7-A9D0-1D96001F4B29}"/>
    <dgm:cxn modelId="{8E4E8839-5CEA-4828-9858-95895F6D5F31}" type="presOf" srcId="{0467098D-B885-44F4-927E-288A179DFB2D}" destId="{B77F6BE8-BC60-4CEB-AC46-43D476A3A80F}" srcOrd="0" destOrd="2" presId="urn:microsoft.com/office/officeart/2005/8/layout/vList2"/>
    <dgm:cxn modelId="{379E1944-AF2F-4158-B802-F415CD18C802}" type="presOf" srcId="{F6590CA5-9388-4F15-9F06-68591FEB5236}" destId="{BE28B84F-6C32-4B4B-81B8-8DD5EE2C12AD}" srcOrd="0" destOrd="0" presId="urn:microsoft.com/office/officeart/2005/8/layout/vList2"/>
    <dgm:cxn modelId="{24C2AF4D-FDB8-4BB4-BB39-26F12F164B46}" srcId="{A7D6FFEB-2AE0-4653-BA24-4753DFC60412}" destId="{F6590CA5-9388-4F15-9F06-68591FEB5236}" srcOrd="0" destOrd="0" parTransId="{A74E4E35-36F4-49F5-A61F-DE6F6CD29591}" sibTransId="{2BE96D41-49F0-4F68-8223-6207089D3A42}"/>
    <dgm:cxn modelId="{86397F6E-EFCB-4DFD-857D-C059D5112AB9}" type="presOf" srcId="{CF0BC714-F127-42F1-9D36-FDF4E2C707A0}" destId="{CC9D44CE-22F7-4E00-9BA9-C88CB61CBA56}" srcOrd="0" destOrd="0" presId="urn:microsoft.com/office/officeart/2005/8/layout/vList2"/>
    <dgm:cxn modelId="{C8F4EF6E-3EDC-4BCE-B464-C56E38C798B6}" type="presOf" srcId="{F7FE0E82-2B89-4211-A4F8-F01110E5B908}" destId="{43A94D63-F87D-435D-AD8B-7A3B5E3D54CF}" srcOrd="0" destOrd="0" presId="urn:microsoft.com/office/officeart/2005/8/layout/vList2"/>
    <dgm:cxn modelId="{0D93DE50-348C-4093-8BC1-DF09FCA67A99}" srcId="{A7D6FFEB-2AE0-4653-BA24-4753DFC60412}" destId="{F7FE0E82-2B89-4211-A4F8-F01110E5B908}" srcOrd="2" destOrd="0" parTransId="{0718867F-7F8C-4134-9D98-BBD288A1A44A}" sibTransId="{B9DD0DA2-F6DE-46EC-8E41-0BA77553F0B4}"/>
    <dgm:cxn modelId="{46BD4671-703F-4DFD-8462-F3682ABEA48C}" type="presOf" srcId="{8878F5DF-FF6E-471A-8A8F-C6458359C021}" destId="{44E1F0B0-60B0-4905-8C67-2D6DE82A5520}" srcOrd="0" destOrd="0" presId="urn:microsoft.com/office/officeart/2005/8/layout/vList2"/>
    <dgm:cxn modelId="{5BDBCB7C-6F8A-43B7-BF64-EAA6C1F5B03D}" srcId="{F6590CA5-9388-4F15-9F06-68591FEB5236}" destId="{2CA3A762-5518-49C5-B99A-3EE276CA96AA}" srcOrd="1" destOrd="0" parTransId="{F77BC1B5-22BD-4977-8EA4-374137809F75}" sibTransId="{D3FD7D81-5CBD-4C1D-BCB2-58F1E9B94EC6}"/>
    <dgm:cxn modelId="{14CFF497-E136-4359-80C7-1E65B60B1FF3}" type="presOf" srcId="{00C597AF-7370-42DA-AB2D-585342E7E031}" destId="{88B97875-61B9-4824-ACF3-E7CDFB240AF3}" srcOrd="0" destOrd="0" presId="urn:microsoft.com/office/officeart/2005/8/layout/vList2"/>
    <dgm:cxn modelId="{3220E9A1-0D8D-48E8-A322-4D54F79338E0}" srcId="{CF0BC714-F127-42F1-9D36-FDF4E2C707A0}" destId="{289A0821-CDCB-49D3-AC6B-2A7EC20C47ED}" srcOrd="2" destOrd="0" parTransId="{051A1FE7-C6E3-4277-9786-9F8905A615C0}" sibTransId="{1343E0BF-2515-4326-934C-5CD868281356}"/>
    <dgm:cxn modelId="{765616C4-A5C3-4AF7-9051-15892F95ED8E}" type="presOf" srcId="{2CA3A762-5518-49C5-B99A-3EE276CA96AA}" destId="{B77F6BE8-BC60-4CEB-AC46-43D476A3A80F}" srcOrd="0" destOrd="1" presId="urn:microsoft.com/office/officeart/2005/8/layout/vList2"/>
    <dgm:cxn modelId="{49715ED9-74B5-4C59-A4CB-1C265B356B78}" type="presOf" srcId="{5DA6DCA4-A0FA-42B8-9242-B440D7DF4CA5}" destId="{44E1F0B0-60B0-4905-8C67-2D6DE82A5520}" srcOrd="0" destOrd="2" presId="urn:microsoft.com/office/officeart/2005/8/layout/vList2"/>
    <dgm:cxn modelId="{FD5E1BDA-EF75-4BA3-BFE6-4F6EC0B08798}" srcId="{CF0BC714-F127-42F1-9D36-FDF4E2C707A0}" destId="{00C597AF-7370-42DA-AB2D-585342E7E031}" srcOrd="0" destOrd="0" parTransId="{5558C5D5-85A4-4EBD-BD52-1AF7C7C59E69}" sibTransId="{80EB5C26-E42B-4D23-820A-7ABBAD307E8D}"/>
    <dgm:cxn modelId="{C0275BDA-DC3F-4BAF-A5FE-9BC6E70A0A0D}" srcId="{F6590CA5-9388-4F15-9F06-68591FEB5236}" destId="{D3576A28-2E6F-43A5-98A5-59B76254E49F}" srcOrd="0" destOrd="0" parTransId="{D9A72931-F330-43F8-838A-B6AADA5CC6DD}" sibTransId="{232D8386-7081-42A5-BE10-ADC429F2BEA4}"/>
    <dgm:cxn modelId="{59A53FE1-ED23-43A4-8BA7-C22552AC2505}" type="presOf" srcId="{289A0821-CDCB-49D3-AC6B-2A7EC20C47ED}" destId="{88B97875-61B9-4824-ACF3-E7CDFB240AF3}" srcOrd="0" destOrd="2" presId="urn:microsoft.com/office/officeart/2005/8/layout/vList2"/>
    <dgm:cxn modelId="{86B154EA-9F1B-419C-A736-0DB48DD8C032}" srcId="{F7FE0E82-2B89-4211-A4F8-F01110E5B908}" destId="{FA4962AA-D18C-426E-8C85-CB7B1F58B9DF}" srcOrd="1" destOrd="0" parTransId="{91CADB8D-40FB-421B-8C4D-935410D4EE70}" sibTransId="{CCEBEFE6-D03D-4294-8736-FBCFF0D1AAA7}"/>
    <dgm:cxn modelId="{78AB9AEE-B0BC-4FCA-8E89-C19B179BE57F}" type="presOf" srcId="{FA4962AA-D18C-426E-8C85-CB7B1F58B9DF}" destId="{44E1F0B0-60B0-4905-8C67-2D6DE82A5520}" srcOrd="0" destOrd="1" presId="urn:microsoft.com/office/officeart/2005/8/layout/vList2"/>
    <dgm:cxn modelId="{49E7F5F0-C3E9-44F0-9458-23584CDCBA55}" srcId="{F6590CA5-9388-4F15-9F06-68591FEB5236}" destId="{0467098D-B885-44F4-927E-288A179DFB2D}" srcOrd="2" destOrd="0" parTransId="{61816A17-4D1D-4544-B7C9-034BB6330952}" sibTransId="{D7D3D474-9EF9-4689-AC1E-9F403DDD8C97}"/>
    <dgm:cxn modelId="{E73936F6-EF26-48FC-B3D1-D6FB3A317F9E}" srcId="{F7FE0E82-2B89-4211-A4F8-F01110E5B908}" destId="{5DA6DCA4-A0FA-42B8-9242-B440D7DF4CA5}" srcOrd="2" destOrd="0" parTransId="{D7B1C1D0-B30D-4B40-921B-1E1162FE36AB}" sibTransId="{A447D085-3F2C-40BC-9FA6-E42E15A93B39}"/>
    <dgm:cxn modelId="{715F89F8-43C7-4385-81FF-751C4D498B89}" srcId="{CF0BC714-F127-42F1-9D36-FDF4E2C707A0}" destId="{098BCAA8-E058-48E5-A6F2-6AD210BA8A54}" srcOrd="1" destOrd="0" parTransId="{51429CB1-B5AD-4738-BBD6-AF14633B3293}" sibTransId="{25501BAB-2E21-483B-8070-48F65D942C81}"/>
    <dgm:cxn modelId="{95AED0FD-B8F4-4ED1-9124-B52523206D74}" type="presOf" srcId="{A7D6FFEB-2AE0-4653-BA24-4753DFC60412}" destId="{B8B34FC0-62AF-43B8-AA0C-0B79FDAE46A1}" srcOrd="0" destOrd="0" presId="urn:microsoft.com/office/officeart/2005/8/layout/vList2"/>
    <dgm:cxn modelId="{017BCD0C-E668-429C-AFC5-D114B2F80A24}" type="presParOf" srcId="{B8B34FC0-62AF-43B8-AA0C-0B79FDAE46A1}" destId="{BE28B84F-6C32-4B4B-81B8-8DD5EE2C12AD}" srcOrd="0" destOrd="0" presId="urn:microsoft.com/office/officeart/2005/8/layout/vList2"/>
    <dgm:cxn modelId="{6DE96E68-3177-4BF8-9420-40C87807AFD6}" type="presParOf" srcId="{B8B34FC0-62AF-43B8-AA0C-0B79FDAE46A1}" destId="{B77F6BE8-BC60-4CEB-AC46-43D476A3A80F}" srcOrd="1" destOrd="0" presId="urn:microsoft.com/office/officeart/2005/8/layout/vList2"/>
    <dgm:cxn modelId="{A274BBE7-EFA7-4248-835A-DD7B10A376B3}" type="presParOf" srcId="{B8B34FC0-62AF-43B8-AA0C-0B79FDAE46A1}" destId="{CC9D44CE-22F7-4E00-9BA9-C88CB61CBA56}" srcOrd="2" destOrd="0" presId="urn:microsoft.com/office/officeart/2005/8/layout/vList2"/>
    <dgm:cxn modelId="{63432322-64F0-4AEE-A22E-86453CE313BB}" type="presParOf" srcId="{B8B34FC0-62AF-43B8-AA0C-0B79FDAE46A1}" destId="{88B97875-61B9-4824-ACF3-E7CDFB240AF3}" srcOrd="3" destOrd="0" presId="urn:microsoft.com/office/officeart/2005/8/layout/vList2"/>
    <dgm:cxn modelId="{3C218CD6-5544-4B7A-B8E2-E7A5960518B9}" type="presParOf" srcId="{B8B34FC0-62AF-43B8-AA0C-0B79FDAE46A1}" destId="{43A94D63-F87D-435D-AD8B-7A3B5E3D54CF}" srcOrd="4" destOrd="0" presId="urn:microsoft.com/office/officeart/2005/8/layout/vList2"/>
    <dgm:cxn modelId="{0BE45DE9-E9A6-47C8-9F60-2C133CE320FC}" type="presParOf" srcId="{B8B34FC0-62AF-43B8-AA0C-0B79FDAE46A1}" destId="{44E1F0B0-60B0-4905-8C67-2D6DE82A552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2782AD-E3C6-460F-953F-31964026F2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E22B6F-ED61-4964-A1DE-BB282C8E1CA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Eskiden JavaScript sadece kar yağdırma efekti veya basit form kontrolleri için kullanılırdı. Web 2.0 ile birlikte JS, </a:t>
          </a:r>
          <a:r>
            <a:rPr lang="tr-TR" b="1"/>
            <a:t>uygulamanın beyni</a:t>
          </a:r>
          <a:r>
            <a:rPr lang="tr-TR"/>
            <a:t> haline geldi.</a:t>
          </a:r>
          <a:endParaRPr lang="en-US"/>
        </a:p>
      </dgm:t>
    </dgm:pt>
    <dgm:pt modelId="{CD59C849-BAE3-40B3-8138-2E9EDEB241AD}" type="parTrans" cxnId="{5E642914-3C72-43EA-83EF-E010BB1AAEEF}">
      <dgm:prSet/>
      <dgm:spPr/>
      <dgm:t>
        <a:bodyPr/>
        <a:lstStyle/>
        <a:p>
          <a:endParaRPr lang="en-US"/>
        </a:p>
      </dgm:t>
    </dgm:pt>
    <dgm:pt modelId="{4B9CA1A1-96E4-485F-82AC-41FDEA77CF28}" type="sibTrans" cxnId="{5E642914-3C72-43EA-83EF-E010BB1AAEEF}">
      <dgm:prSet/>
      <dgm:spPr/>
      <dgm:t>
        <a:bodyPr/>
        <a:lstStyle/>
        <a:p>
          <a:endParaRPr lang="en-US"/>
        </a:p>
      </dgm:t>
    </dgm:pt>
    <dgm:pt modelId="{1F621D43-1CA5-429A-80AD-7ACAA6F11B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/>
            <a:t>Asenkron Programlama:</a:t>
          </a:r>
          <a:r>
            <a:rPr lang="tr-TR"/>
            <a:t> JavaScript, sunucudan yanıt gelmesini beklerken tarayıcıyı dondurmamayı öğrendi. Bu sayede "Google Maps" gibi sayfayı kaydırdıkça yüklenen uygulamalar doğdu.</a:t>
          </a:r>
          <a:endParaRPr lang="en-US"/>
        </a:p>
      </dgm:t>
    </dgm:pt>
    <dgm:pt modelId="{80A6D76B-4166-470C-A5E3-5715689EDBC9}" type="parTrans" cxnId="{56D39ED4-ABE8-413A-8F7E-76E2DC53B5ED}">
      <dgm:prSet/>
      <dgm:spPr/>
      <dgm:t>
        <a:bodyPr/>
        <a:lstStyle/>
        <a:p>
          <a:endParaRPr lang="en-US"/>
        </a:p>
      </dgm:t>
    </dgm:pt>
    <dgm:pt modelId="{9D742219-94BC-47D8-9268-421436E03FE2}" type="sibTrans" cxnId="{56D39ED4-ABE8-413A-8F7E-76E2DC53B5ED}">
      <dgm:prSet/>
      <dgm:spPr/>
      <dgm:t>
        <a:bodyPr/>
        <a:lstStyle/>
        <a:p>
          <a:endParaRPr lang="en-US"/>
        </a:p>
      </dgm:t>
    </dgm:pt>
    <dgm:pt modelId="{6C7A0735-0AA6-432C-974E-925A43359CC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/>
            <a:t>Veri İşleme (JSON):</a:t>
          </a:r>
          <a:r>
            <a:rPr lang="tr-TR"/>
            <a:t> JavaScript, sunucudan gelen ham veriyi (JSON) alıp anında HTML'e dönüştürmeye başladı. Bu, işleme yükünü sunucudan alıp kullanıcının tarayıcısına (Client-side) dağıttı.</a:t>
          </a:r>
          <a:endParaRPr lang="en-US"/>
        </a:p>
      </dgm:t>
    </dgm:pt>
    <dgm:pt modelId="{F4441B34-AD1D-48A8-B97A-12FC2BCEEA34}" type="parTrans" cxnId="{AC40F59E-D9BE-4F43-98BF-A2D35EAEB0DD}">
      <dgm:prSet/>
      <dgm:spPr/>
      <dgm:t>
        <a:bodyPr/>
        <a:lstStyle/>
        <a:p>
          <a:endParaRPr lang="en-US"/>
        </a:p>
      </dgm:t>
    </dgm:pt>
    <dgm:pt modelId="{4C432E8A-18A4-4D90-90EA-D0312EE7C646}" type="sibTrans" cxnId="{AC40F59E-D9BE-4F43-98BF-A2D35EAEB0DD}">
      <dgm:prSet/>
      <dgm:spPr/>
      <dgm:t>
        <a:bodyPr/>
        <a:lstStyle/>
        <a:p>
          <a:endParaRPr lang="en-US"/>
        </a:p>
      </dgm:t>
    </dgm:pt>
    <dgm:pt modelId="{7D0B7CC1-7BFD-4458-8739-768C4479457B}" type="pres">
      <dgm:prSet presAssocID="{3F2782AD-E3C6-460F-953F-31964026F2D6}" presName="root" presStyleCnt="0">
        <dgm:presLayoutVars>
          <dgm:dir/>
          <dgm:resizeHandles val="exact"/>
        </dgm:presLayoutVars>
      </dgm:prSet>
      <dgm:spPr/>
    </dgm:pt>
    <dgm:pt modelId="{A1103AAE-4C60-448D-9161-6B5B7ED2F3C2}" type="pres">
      <dgm:prSet presAssocID="{25E22B6F-ED61-4964-A1DE-BB282C8E1CA7}" presName="compNode" presStyleCnt="0"/>
      <dgm:spPr/>
    </dgm:pt>
    <dgm:pt modelId="{5CE01300-BB71-456D-B380-61E3ED60166E}" type="pres">
      <dgm:prSet presAssocID="{25E22B6F-ED61-4964-A1DE-BB282C8E1CA7}" presName="bgRect" presStyleLbl="bgShp" presStyleIdx="0" presStyleCnt="3"/>
      <dgm:spPr/>
    </dgm:pt>
    <dgm:pt modelId="{BBE2E885-DD71-43C3-B868-76776E8ED892}" type="pres">
      <dgm:prSet presAssocID="{25E22B6F-ED61-4964-A1DE-BB282C8E1C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CE0DB11E-EFE3-45FA-8E9D-772242BCB0A8}" type="pres">
      <dgm:prSet presAssocID="{25E22B6F-ED61-4964-A1DE-BB282C8E1CA7}" presName="spaceRect" presStyleCnt="0"/>
      <dgm:spPr/>
    </dgm:pt>
    <dgm:pt modelId="{4B605348-2408-492A-912C-5D63F02967D3}" type="pres">
      <dgm:prSet presAssocID="{25E22B6F-ED61-4964-A1DE-BB282C8E1CA7}" presName="parTx" presStyleLbl="revTx" presStyleIdx="0" presStyleCnt="3">
        <dgm:presLayoutVars>
          <dgm:chMax val="0"/>
          <dgm:chPref val="0"/>
        </dgm:presLayoutVars>
      </dgm:prSet>
      <dgm:spPr/>
    </dgm:pt>
    <dgm:pt modelId="{E8A530C0-8122-4889-9485-B3F5395798D7}" type="pres">
      <dgm:prSet presAssocID="{4B9CA1A1-96E4-485F-82AC-41FDEA77CF28}" presName="sibTrans" presStyleCnt="0"/>
      <dgm:spPr/>
    </dgm:pt>
    <dgm:pt modelId="{80AB7DAF-2E75-4048-8A46-F0697C2B6C51}" type="pres">
      <dgm:prSet presAssocID="{1F621D43-1CA5-429A-80AD-7ACAA6F11B73}" presName="compNode" presStyleCnt="0"/>
      <dgm:spPr/>
    </dgm:pt>
    <dgm:pt modelId="{6A99EA22-1F92-4AE3-8AA4-1F1C0268CC4F}" type="pres">
      <dgm:prSet presAssocID="{1F621D43-1CA5-429A-80AD-7ACAA6F11B73}" presName="bgRect" presStyleLbl="bgShp" presStyleIdx="1" presStyleCnt="3"/>
      <dgm:spPr/>
    </dgm:pt>
    <dgm:pt modelId="{DDED732B-E120-43A2-A982-D20A04746168}" type="pres">
      <dgm:prSet presAssocID="{1F621D43-1CA5-429A-80AD-7ACAA6F11B7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l"/>
        </a:ext>
      </dgm:extLst>
    </dgm:pt>
    <dgm:pt modelId="{9BDDAB15-2E84-44F9-910E-0F812CE133DC}" type="pres">
      <dgm:prSet presAssocID="{1F621D43-1CA5-429A-80AD-7ACAA6F11B73}" presName="spaceRect" presStyleCnt="0"/>
      <dgm:spPr/>
    </dgm:pt>
    <dgm:pt modelId="{037E83D8-A593-4FC9-82FE-A7A322757040}" type="pres">
      <dgm:prSet presAssocID="{1F621D43-1CA5-429A-80AD-7ACAA6F11B73}" presName="parTx" presStyleLbl="revTx" presStyleIdx="1" presStyleCnt="3">
        <dgm:presLayoutVars>
          <dgm:chMax val="0"/>
          <dgm:chPref val="0"/>
        </dgm:presLayoutVars>
      </dgm:prSet>
      <dgm:spPr/>
    </dgm:pt>
    <dgm:pt modelId="{3EEFAFC5-E5E3-404D-89B7-0B0D9CC2C907}" type="pres">
      <dgm:prSet presAssocID="{9D742219-94BC-47D8-9268-421436E03FE2}" presName="sibTrans" presStyleCnt="0"/>
      <dgm:spPr/>
    </dgm:pt>
    <dgm:pt modelId="{2E398CFF-8013-4096-8D0F-2DA391094F32}" type="pres">
      <dgm:prSet presAssocID="{6C7A0735-0AA6-432C-974E-925A43359CCA}" presName="compNode" presStyleCnt="0"/>
      <dgm:spPr/>
    </dgm:pt>
    <dgm:pt modelId="{66CD7EFC-39B5-43E5-BF3F-D90B1F7A70B7}" type="pres">
      <dgm:prSet presAssocID="{6C7A0735-0AA6-432C-974E-925A43359CCA}" presName="bgRect" presStyleLbl="bgShp" presStyleIdx="2" presStyleCnt="3"/>
      <dgm:spPr/>
    </dgm:pt>
    <dgm:pt modelId="{D03561C9-E20E-4968-92F8-CC1D5E517B75}" type="pres">
      <dgm:prSet presAssocID="{6C7A0735-0AA6-432C-974E-925A43359C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A189AA4-5632-4836-B639-8CA2ECDD1B9C}" type="pres">
      <dgm:prSet presAssocID="{6C7A0735-0AA6-432C-974E-925A43359CCA}" presName="spaceRect" presStyleCnt="0"/>
      <dgm:spPr/>
    </dgm:pt>
    <dgm:pt modelId="{5193FDE1-4232-4943-875E-86A73450BB4A}" type="pres">
      <dgm:prSet presAssocID="{6C7A0735-0AA6-432C-974E-925A43359CC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9F09D08-6DEC-4620-9814-C3570C7E0FBA}" type="presOf" srcId="{25E22B6F-ED61-4964-A1DE-BB282C8E1CA7}" destId="{4B605348-2408-492A-912C-5D63F02967D3}" srcOrd="0" destOrd="0" presId="urn:microsoft.com/office/officeart/2018/2/layout/IconVerticalSolidList"/>
    <dgm:cxn modelId="{5E642914-3C72-43EA-83EF-E010BB1AAEEF}" srcId="{3F2782AD-E3C6-460F-953F-31964026F2D6}" destId="{25E22B6F-ED61-4964-A1DE-BB282C8E1CA7}" srcOrd="0" destOrd="0" parTransId="{CD59C849-BAE3-40B3-8138-2E9EDEB241AD}" sibTransId="{4B9CA1A1-96E4-485F-82AC-41FDEA77CF28}"/>
    <dgm:cxn modelId="{AC40F59E-D9BE-4F43-98BF-A2D35EAEB0DD}" srcId="{3F2782AD-E3C6-460F-953F-31964026F2D6}" destId="{6C7A0735-0AA6-432C-974E-925A43359CCA}" srcOrd="2" destOrd="0" parTransId="{F4441B34-AD1D-48A8-B97A-12FC2BCEEA34}" sibTransId="{4C432E8A-18A4-4D90-90EA-D0312EE7C646}"/>
    <dgm:cxn modelId="{79DEB2A8-D375-4D84-B14B-F233D145747C}" type="presOf" srcId="{1F621D43-1CA5-429A-80AD-7ACAA6F11B73}" destId="{037E83D8-A593-4FC9-82FE-A7A322757040}" srcOrd="0" destOrd="0" presId="urn:microsoft.com/office/officeart/2018/2/layout/IconVerticalSolidList"/>
    <dgm:cxn modelId="{8ED494C8-EFE9-4382-9EC1-C6B811974EE7}" type="presOf" srcId="{6C7A0735-0AA6-432C-974E-925A43359CCA}" destId="{5193FDE1-4232-4943-875E-86A73450BB4A}" srcOrd="0" destOrd="0" presId="urn:microsoft.com/office/officeart/2018/2/layout/IconVerticalSolidList"/>
    <dgm:cxn modelId="{56D39ED4-ABE8-413A-8F7E-76E2DC53B5ED}" srcId="{3F2782AD-E3C6-460F-953F-31964026F2D6}" destId="{1F621D43-1CA5-429A-80AD-7ACAA6F11B73}" srcOrd="1" destOrd="0" parTransId="{80A6D76B-4166-470C-A5E3-5715689EDBC9}" sibTransId="{9D742219-94BC-47D8-9268-421436E03FE2}"/>
    <dgm:cxn modelId="{825E01E6-7074-44FD-B87A-48F0E907BB33}" type="presOf" srcId="{3F2782AD-E3C6-460F-953F-31964026F2D6}" destId="{7D0B7CC1-7BFD-4458-8739-768C4479457B}" srcOrd="0" destOrd="0" presId="urn:microsoft.com/office/officeart/2018/2/layout/IconVerticalSolidList"/>
    <dgm:cxn modelId="{626FE8A8-D46C-46F9-850B-A7B0E6C1A3D1}" type="presParOf" srcId="{7D0B7CC1-7BFD-4458-8739-768C4479457B}" destId="{A1103AAE-4C60-448D-9161-6B5B7ED2F3C2}" srcOrd="0" destOrd="0" presId="urn:microsoft.com/office/officeart/2018/2/layout/IconVerticalSolidList"/>
    <dgm:cxn modelId="{17468C9E-5F30-4E0A-BD64-30284D311668}" type="presParOf" srcId="{A1103AAE-4C60-448D-9161-6B5B7ED2F3C2}" destId="{5CE01300-BB71-456D-B380-61E3ED60166E}" srcOrd="0" destOrd="0" presId="urn:microsoft.com/office/officeart/2018/2/layout/IconVerticalSolidList"/>
    <dgm:cxn modelId="{BA39DB62-9248-4FB5-B3AC-35DB527CE18E}" type="presParOf" srcId="{A1103AAE-4C60-448D-9161-6B5B7ED2F3C2}" destId="{BBE2E885-DD71-43C3-B868-76776E8ED892}" srcOrd="1" destOrd="0" presId="urn:microsoft.com/office/officeart/2018/2/layout/IconVerticalSolidList"/>
    <dgm:cxn modelId="{74B38C95-81BB-46A3-BD82-079AA0BE1503}" type="presParOf" srcId="{A1103AAE-4C60-448D-9161-6B5B7ED2F3C2}" destId="{CE0DB11E-EFE3-45FA-8E9D-772242BCB0A8}" srcOrd="2" destOrd="0" presId="urn:microsoft.com/office/officeart/2018/2/layout/IconVerticalSolidList"/>
    <dgm:cxn modelId="{C45218E0-D6AA-4B4D-8A85-B91A44864203}" type="presParOf" srcId="{A1103AAE-4C60-448D-9161-6B5B7ED2F3C2}" destId="{4B605348-2408-492A-912C-5D63F02967D3}" srcOrd="3" destOrd="0" presId="urn:microsoft.com/office/officeart/2018/2/layout/IconVerticalSolidList"/>
    <dgm:cxn modelId="{B0687528-39E6-4D3D-8663-7E37EFAE56A7}" type="presParOf" srcId="{7D0B7CC1-7BFD-4458-8739-768C4479457B}" destId="{E8A530C0-8122-4889-9485-B3F5395798D7}" srcOrd="1" destOrd="0" presId="urn:microsoft.com/office/officeart/2018/2/layout/IconVerticalSolidList"/>
    <dgm:cxn modelId="{C8483B97-52CA-4B85-9CDD-4BBDB0ED859E}" type="presParOf" srcId="{7D0B7CC1-7BFD-4458-8739-768C4479457B}" destId="{80AB7DAF-2E75-4048-8A46-F0697C2B6C51}" srcOrd="2" destOrd="0" presId="urn:microsoft.com/office/officeart/2018/2/layout/IconVerticalSolidList"/>
    <dgm:cxn modelId="{4A49DA00-3847-4C40-AA07-9045EBD10ACD}" type="presParOf" srcId="{80AB7DAF-2E75-4048-8A46-F0697C2B6C51}" destId="{6A99EA22-1F92-4AE3-8AA4-1F1C0268CC4F}" srcOrd="0" destOrd="0" presId="urn:microsoft.com/office/officeart/2018/2/layout/IconVerticalSolidList"/>
    <dgm:cxn modelId="{3812FB2E-AEA2-4C01-9622-1B13B70CA42F}" type="presParOf" srcId="{80AB7DAF-2E75-4048-8A46-F0697C2B6C51}" destId="{DDED732B-E120-43A2-A982-D20A04746168}" srcOrd="1" destOrd="0" presId="urn:microsoft.com/office/officeart/2018/2/layout/IconVerticalSolidList"/>
    <dgm:cxn modelId="{1088B637-E9A7-46C0-820C-33CF0A658645}" type="presParOf" srcId="{80AB7DAF-2E75-4048-8A46-F0697C2B6C51}" destId="{9BDDAB15-2E84-44F9-910E-0F812CE133DC}" srcOrd="2" destOrd="0" presId="urn:microsoft.com/office/officeart/2018/2/layout/IconVerticalSolidList"/>
    <dgm:cxn modelId="{8F3A00C5-3DBD-4E08-B9AB-A1F6D2758027}" type="presParOf" srcId="{80AB7DAF-2E75-4048-8A46-F0697C2B6C51}" destId="{037E83D8-A593-4FC9-82FE-A7A322757040}" srcOrd="3" destOrd="0" presId="urn:microsoft.com/office/officeart/2018/2/layout/IconVerticalSolidList"/>
    <dgm:cxn modelId="{E7003319-D4F9-4257-B550-788223F0360F}" type="presParOf" srcId="{7D0B7CC1-7BFD-4458-8739-768C4479457B}" destId="{3EEFAFC5-E5E3-404D-89B7-0B0D9CC2C907}" srcOrd="3" destOrd="0" presId="urn:microsoft.com/office/officeart/2018/2/layout/IconVerticalSolidList"/>
    <dgm:cxn modelId="{C0E3F88F-BEAF-4AC4-BF8A-4FE4B35E8DDA}" type="presParOf" srcId="{7D0B7CC1-7BFD-4458-8739-768C4479457B}" destId="{2E398CFF-8013-4096-8D0F-2DA391094F32}" srcOrd="4" destOrd="0" presId="urn:microsoft.com/office/officeart/2018/2/layout/IconVerticalSolidList"/>
    <dgm:cxn modelId="{43174F43-F782-42E5-B7F8-05748390AF7F}" type="presParOf" srcId="{2E398CFF-8013-4096-8D0F-2DA391094F32}" destId="{66CD7EFC-39B5-43E5-BF3F-D90B1F7A70B7}" srcOrd="0" destOrd="0" presId="urn:microsoft.com/office/officeart/2018/2/layout/IconVerticalSolidList"/>
    <dgm:cxn modelId="{EB002CBA-739F-424B-ADEF-EA5A4551FF3A}" type="presParOf" srcId="{2E398CFF-8013-4096-8D0F-2DA391094F32}" destId="{D03561C9-E20E-4968-92F8-CC1D5E517B75}" srcOrd="1" destOrd="0" presId="urn:microsoft.com/office/officeart/2018/2/layout/IconVerticalSolidList"/>
    <dgm:cxn modelId="{3743FB32-9950-4CE3-9640-9EC9543D7FAB}" type="presParOf" srcId="{2E398CFF-8013-4096-8D0F-2DA391094F32}" destId="{7A189AA4-5632-4836-B639-8CA2ECDD1B9C}" srcOrd="2" destOrd="0" presId="urn:microsoft.com/office/officeart/2018/2/layout/IconVerticalSolidList"/>
    <dgm:cxn modelId="{83677CDB-9D1B-4C5A-AEAE-80361CF177A4}" type="presParOf" srcId="{2E398CFF-8013-4096-8D0F-2DA391094F32}" destId="{5193FDE1-4232-4943-875E-86A73450BB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140055-E561-4EC2-A7C3-31C8627F16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DC6B4E-13E7-44B1-B724-331AB422A1EA}">
      <dgm:prSet/>
      <dgm:spPr/>
      <dgm:t>
        <a:bodyPr/>
        <a:lstStyle/>
        <a:p>
          <a:r>
            <a:rPr lang="tr-TR" b="1"/>
            <a:t>Veritabanı Erişimi:</a:t>
          </a:r>
          <a:r>
            <a:rPr lang="tr-TR"/>
            <a:t> Next.js ile tarayıcıya hiç uğramadan, doğrudan sunucu üzerinden veritabanına bağlanabilirsin. Bu, hassas verilerin kullanıcıya hiç gitmemesini sağlar.</a:t>
          </a:r>
          <a:endParaRPr lang="en-US"/>
        </a:p>
      </dgm:t>
    </dgm:pt>
    <dgm:pt modelId="{14703AB5-578D-4B6A-96C6-A1E22AE0255D}" type="parTrans" cxnId="{F04B3AA9-8A01-4A35-8690-640A5642A2A0}">
      <dgm:prSet/>
      <dgm:spPr/>
      <dgm:t>
        <a:bodyPr/>
        <a:lstStyle/>
        <a:p>
          <a:endParaRPr lang="en-US"/>
        </a:p>
      </dgm:t>
    </dgm:pt>
    <dgm:pt modelId="{00BE1544-BBCB-40E0-968F-9FC7F7950626}" type="sibTrans" cxnId="{F04B3AA9-8A01-4A35-8690-640A5642A2A0}">
      <dgm:prSet/>
      <dgm:spPr/>
      <dgm:t>
        <a:bodyPr/>
        <a:lstStyle/>
        <a:p>
          <a:endParaRPr lang="en-US"/>
        </a:p>
      </dgm:t>
    </dgm:pt>
    <dgm:pt modelId="{8FA86A07-9EBB-4C01-9769-88CF0E278DD4}">
      <dgm:prSet/>
      <dgm:spPr/>
      <dgm:t>
        <a:bodyPr/>
        <a:lstStyle/>
        <a:p>
          <a:r>
            <a:rPr lang="tr-TR" b="1"/>
            <a:t>Hassas API'lar:</a:t>
          </a:r>
          <a:r>
            <a:rPr lang="tr-TR"/>
            <a:t> Ödeme sistemleri (Stripe, banka sanal posları) gibi gizli anahtar gerektiren işlemler sunucu tarafında güvenli bir şekilde yürütülür.</a:t>
          </a:r>
          <a:endParaRPr lang="en-US"/>
        </a:p>
      </dgm:t>
    </dgm:pt>
    <dgm:pt modelId="{1777E942-8A61-46BB-92E2-6679741204B6}" type="parTrans" cxnId="{FFC223C9-A8C2-4F26-BDBD-A4659494BE7A}">
      <dgm:prSet/>
      <dgm:spPr/>
      <dgm:t>
        <a:bodyPr/>
        <a:lstStyle/>
        <a:p>
          <a:endParaRPr lang="en-US"/>
        </a:p>
      </dgm:t>
    </dgm:pt>
    <dgm:pt modelId="{27BC6DA3-788E-4D13-8BB3-162C6C03C92F}" type="sibTrans" cxnId="{FFC223C9-A8C2-4F26-BDBD-A4659494BE7A}">
      <dgm:prSet/>
      <dgm:spPr/>
      <dgm:t>
        <a:bodyPr/>
        <a:lstStyle/>
        <a:p>
          <a:endParaRPr lang="en-US"/>
        </a:p>
      </dgm:t>
    </dgm:pt>
    <dgm:pt modelId="{AB66A380-AF54-44C9-9767-F1B9B05F8BA4}" type="pres">
      <dgm:prSet presAssocID="{27140055-E561-4EC2-A7C3-31C8627F169E}" presName="root" presStyleCnt="0">
        <dgm:presLayoutVars>
          <dgm:dir/>
          <dgm:resizeHandles val="exact"/>
        </dgm:presLayoutVars>
      </dgm:prSet>
      <dgm:spPr/>
    </dgm:pt>
    <dgm:pt modelId="{F9390D61-9877-47AA-89EB-9AAE4714CE0D}" type="pres">
      <dgm:prSet presAssocID="{EDDC6B4E-13E7-44B1-B724-331AB422A1EA}" presName="compNode" presStyleCnt="0"/>
      <dgm:spPr/>
    </dgm:pt>
    <dgm:pt modelId="{5E0410E2-00BF-4D6F-B162-ED2B133F737D}" type="pres">
      <dgm:prSet presAssocID="{EDDC6B4E-13E7-44B1-B724-331AB422A1EA}" presName="bgRect" presStyleLbl="bgShp" presStyleIdx="0" presStyleCnt="2"/>
      <dgm:spPr/>
    </dgm:pt>
    <dgm:pt modelId="{815EC273-8B2A-4C86-BDFE-A3254D60F2E3}" type="pres">
      <dgm:prSet presAssocID="{EDDC6B4E-13E7-44B1-B724-331AB422A1E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 tabanı"/>
        </a:ext>
      </dgm:extLst>
    </dgm:pt>
    <dgm:pt modelId="{E2045297-0FDD-4DC5-9D98-65F29261BB57}" type="pres">
      <dgm:prSet presAssocID="{EDDC6B4E-13E7-44B1-B724-331AB422A1EA}" presName="spaceRect" presStyleCnt="0"/>
      <dgm:spPr/>
    </dgm:pt>
    <dgm:pt modelId="{E2255610-87A7-410E-B8A5-C986DC7E8609}" type="pres">
      <dgm:prSet presAssocID="{EDDC6B4E-13E7-44B1-B724-331AB422A1EA}" presName="parTx" presStyleLbl="revTx" presStyleIdx="0" presStyleCnt="2">
        <dgm:presLayoutVars>
          <dgm:chMax val="0"/>
          <dgm:chPref val="0"/>
        </dgm:presLayoutVars>
      </dgm:prSet>
      <dgm:spPr/>
    </dgm:pt>
    <dgm:pt modelId="{A0BE335D-4DFE-4117-BF40-0568569179DE}" type="pres">
      <dgm:prSet presAssocID="{00BE1544-BBCB-40E0-968F-9FC7F7950626}" presName="sibTrans" presStyleCnt="0"/>
      <dgm:spPr/>
    </dgm:pt>
    <dgm:pt modelId="{E9C98DED-28A1-4FBA-A6FC-7713A49583F6}" type="pres">
      <dgm:prSet presAssocID="{8FA86A07-9EBB-4C01-9769-88CF0E278DD4}" presName="compNode" presStyleCnt="0"/>
      <dgm:spPr/>
    </dgm:pt>
    <dgm:pt modelId="{2F5F6A09-C34A-4A9D-BED1-19EEFCBE44BB}" type="pres">
      <dgm:prSet presAssocID="{8FA86A07-9EBB-4C01-9769-88CF0E278DD4}" presName="bgRect" presStyleLbl="bgShp" presStyleIdx="1" presStyleCnt="2"/>
      <dgm:spPr/>
    </dgm:pt>
    <dgm:pt modelId="{E62331FE-11C9-4494-84F5-36BDDBA0DEF4}" type="pres">
      <dgm:prSet presAssocID="{8FA86A07-9EBB-4C01-9769-88CF0E278D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9B50AEAE-9743-4F4C-9BEE-D6B1A6733E5B}" type="pres">
      <dgm:prSet presAssocID="{8FA86A07-9EBB-4C01-9769-88CF0E278DD4}" presName="spaceRect" presStyleCnt="0"/>
      <dgm:spPr/>
    </dgm:pt>
    <dgm:pt modelId="{000A6E45-476E-439B-BE09-EC9F2E3C3639}" type="pres">
      <dgm:prSet presAssocID="{8FA86A07-9EBB-4C01-9769-88CF0E278DD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10E1C28-6215-494C-BF8C-0BE9AAAC5DAA}" type="presOf" srcId="{EDDC6B4E-13E7-44B1-B724-331AB422A1EA}" destId="{E2255610-87A7-410E-B8A5-C986DC7E8609}" srcOrd="0" destOrd="0" presId="urn:microsoft.com/office/officeart/2018/2/layout/IconVerticalSolidList"/>
    <dgm:cxn modelId="{627CFE99-CC7D-4D15-816E-1693CD75D993}" type="presOf" srcId="{8FA86A07-9EBB-4C01-9769-88CF0E278DD4}" destId="{000A6E45-476E-439B-BE09-EC9F2E3C3639}" srcOrd="0" destOrd="0" presId="urn:microsoft.com/office/officeart/2018/2/layout/IconVerticalSolidList"/>
    <dgm:cxn modelId="{F04B3AA9-8A01-4A35-8690-640A5642A2A0}" srcId="{27140055-E561-4EC2-A7C3-31C8627F169E}" destId="{EDDC6B4E-13E7-44B1-B724-331AB422A1EA}" srcOrd="0" destOrd="0" parTransId="{14703AB5-578D-4B6A-96C6-A1E22AE0255D}" sibTransId="{00BE1544-BBCB-40E0-968F-9FC7F7950626}"/>
    <dgm:cxn modelId="{FFC223C9-A8C2-4F26-BDBD-A4659494BE7A}" srcId="{27140055-E561-4EC2-A7C3-31C8627F169E}" destId="{8FA86A07-9EBB-4C01-9769-88CF0E278DD4}" srcOrd="1" destOrd="0" parTransId="{1777E942-8A61-46BB-92E2-6679741204B6}" sibTransId="{27BC6DA3-788E-4D13-8BB3-162C6C03C92F}"/>
    <dgm:cxn modelId="{A6B3C2DA-2DCF-4592-A312-3196916B6984}" type="presOf" srcId="{27140055-E561-4EC2-A7C3-31C8627F169E}" destId="{AB66A380-AF54-44C9-9767-F1B9B05F8BA4}" srcOrd="0" destOrd="0" presId="urn:microsoft.com/office/officeart/2018/2/layout/IconVerticalSolidList"/>
    <dgm:cxn modelId="{B9F68EDA-5CF8-4A37-B136-8EDD38E6C119}" type="presParOf" srcId="{AB66A380-AF54-44C9-9767-F1B9B05F8BA4}" destId="{F9390D61-9877-47AA-89EB-9AAE4714CE0D}" srcOrd="0" destOrd="0" presId="urn:microsoft.com/office/officeart/2018/2/layout/IconVerticalSolidList"/>
    <dgm:cxn modelId="{28A3527E-A6DD-4852-89B0-51D71BED08CE}" type="presParOf" srcId="{F9390D61-9877-47AA-89EB-9AAE4714CE0D}" destId="{5E0410E2-00BF-4D6F-B162-ED2B133F737D}" srcOrd="0" destOrd="0" presId="urn:microsoft.com/office/officeart/2018/2/layout/IconVerticalSolidList"/>
    <dgm:cxn modelId="{240845B5-45F0-4347-9ABD-8D936BEEF13A}" type="presParOf" srcId="{F9390D61-9877-47AA-89EB-9AAE4714CE0D}" destId="{815EC273-8B2A-4C86-BDFE-A3254D60F2E3}" srcOrd="1" destOrd="0" presId="urn:microsoft.com/office/officeart/2018/2/layout/IconVerticalSolidList"/>
    <dgm:cxn modelId="{87E82F7D-58FF-48B3-852B-12E704D52977}" type="presParOf" srcId="{F9390D61-9877-47AA-89EB-9AAE4714CE0D}" destId="{E2045297-0FDD-4DC5-9D98-65F29261BB57}" srcOrd="2" destOrd="0" presId="urn:microsoft.com/office/officeart/2018/2/layout/IconVerticalSolidList"/>
    <dgm:cxn modelId="{7FFF7378-82AF-4AA7-9CCA-58402AEC3A82}" type="presParOf" srcId="{F9390D61-9877-47AA-89EB-9AAE4714CE0D}" destId="{E2255610-87A7-410E-B8A5-C986DC7E8609}" srcOrd="3" destOrd="0" presId="urn:microsoft.com/office/officeart/2018/2/layout/IconVerticalSolidList"/>
    <dgm:cxn modelId="{87EEDF4A-5263-4DB4-A54D-8FBB179E725A}" type="presParOf" srcId="{AB66A380-AF54-44C9-9767-F1B9B05F8BA4}" destId="{A0BE335D-4DFE-4117-BF40-0568569179DE}" srcOrd="1" destOrd="0" presId="urn:microsoft.com/office/officeart/2018/2/layout/IconVerticalSolidList"/>
    <dgm:cxn modelId="{4440F391-85C6-46E7-B325-DD386FA45201}" type="presParOf" srcId="{AB66A380-AF54-44C9-9767-F1B9B05F8BA4}" destId="{E9C98DED-28A1-4FBA-A6FC-7713A49583F6}" srcOrd="2" destOrd="0" presId="urn:microsoft.com/office/officeart/2018/2/layout/IconVerticalSolidList"/>
    <dgm:cxn modelId="{6A925BD5-8205-4802-82F2-B107DCC613F4}" type="presParOf" srcId="{E9C98DED-28A1-4FBA-A6FC-7713A49583F6}" destId="{2F5F6A09-C34A-4A9D-BED1-19EEFCBE44BB}" srcOrd="0" destOrd="0" presId="urn:microsoft.com/office/officeart/2018/2/layout/IconVerticalSolidList"/>
    <dgm:cxn modelId="{3AD07D61-8EB5-4798-9C42-2DB940FC1FD1}" type="presParOf" srcId="{E9C98DED-28A1-4FBA-A6FC-7713A49583F6}" destId="{E62331FE-11C9-4494-84F5-36BDDBA0DEF4}" srcOrd="1" destOrd="0" presId="urn:microsoft.com/office/officeart/2018/2/layout/IconVerticalSolidList"/>
    <dgm:cxn modelId="{14A2017A-E30C-4ED5-91CD-FF99A5597F1E}" type="presParOf" srcId="{E9C98DED-28A1-4FBA-A6FC-7713A49583F6}" destId="{9B50AEAE-9743-4F4C-9BEE-D6B1A6733E5B}" srcOrd="2" destOrd="0" presId="urn:microsoft.com/office/officeart/2018/2/layout/IconVerticalSolidList"/>
    <dgm:cxn modelId="{C5C539E2-7881-4B9C-A3F5-7476321B3C24}" type="presParOf" srcId="{E9C98DED-28A1-4FBA-A6FC-7713A49583F6}" destId="{000A6E45-476E-439B-BE09-EC9F2E3C36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AE547-3126-430F-BFC6-578686EDF089}">
      <dsp:nvSpPr>
        <dsp:cNvPr id="0" name=""/>
        <dsp:cNvSpPr/>
      </dsp:nvSpPr>
      <dsp:spPr>
        <a:xfrm>
          <a:off x="0" y="939705"/>
          <a:ext cx="6408738" cy="17244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37F43-326C-4ED1-90E8-8D855686A7D3}">
      <dsp:nvSpPr>
        <dsp:cNvPr id="0" name=""/>
        <dsp:cNvSpPr/>
      </dsp:nvSpPr>
      <dsp:spPr>
        <a:xfrm>
          <a:off x="521649" y="1327709"/>
          <a:ext cx="948454" cy="9484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60E03-DE38-43A5-A657-C2E464361DDC}">
      <dsp:nvSpPr>
        <dsp:cNvPr id="0" name=""/>
        <dsp:cNvSpPr/>
      </dsp:nvSpPr>
      <dsp:spPr>
        <a:xfrm>
          <a:off x="1991753" y="939705"/>
          <a:ext cx="2883932" cy="172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506" tIns="182506" rIns="182506" bIns="1825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b="1" kern="1200" baseline="0"/>
            <a:t>1. Web 1.0 -&gt; 2.0: Statik Sayfadan Yaşayan Uygulamaya</a:t>
          </a:r>
          <a:endParaRPr lang="en-US" sz="2200" kern="1200"/>
        </a:p>
      </dsp:txBody>
      <dsp:txXfrm>
        <a:off x="1991753" y="939705"/>
        <a:ext cx="2883932" cy="1724461"/>
      </dsp:txXfrm>
    </dsp:sp>
    <dsp:sp modelId="{BB180EC3-1433-4108-AE84-43A633B45774}">
      <dsp:nvSpPr>
        <dsp:cNvPr id="0" name=""/>
        <dsp:cNvSpPr/>
      </dsp:nvSpPr>
      <dsp:spPr>
        <a:xfrm>
          <a:off x="4875685" y="939705"/>
          <a:ext cx="1531105" cy="172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506" tIns="182506" rIns="182506" bIns="18250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baseline="0"/>
            <a:t>Web 1.0 (The Read-Only Web):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baseline="0"/>
            <a:t>Web 2.0 (The Social/Participatory Web):</a:t>
          </a:r>
          <a:endParaRPr lang="en-US" sz="1100" kern="1200"/>
        </a:p>
      </dsp:txBody>
      <dsp:txXfrm>
        <a:off x="4875685" y="939705"/>
        <a:ext cx="1531105" cy="1724461"/>
      </dsp:txXfrm>
    </dsp:sp>
    <dsp:sp modelId="{DC3C2BDC-C5C5-4944-B8D4-8AD6C86E4408}">
      <dsp:nvSpPr>
        <dsp:cNvPr id="0" name=""/>
        <dsp:cNvSpPr/>
      </dsp:nvSpPr>
      <dsp:spPr>
        <a:xfrm>
          <a:off x="0" y="3095282"/>
          <a:ext cx="6408738" cy="17244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2E678-BB10-4B49-A38C-65AA7FE60469}">
      <dsp:nvSpPr>
        <dsp:cNvPr id="0" name=""/>
        <dsp:cNvSpPr/>
      </dsp:nvSpPr>
      <dsp:spPr>
        <a:xfrm>
          <a:off x="521649" y="3483286"/>
          <a:ext cx="948454" cy="9484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BAE4F-206C-4EC0-AFA8-80E901261924}">
      <dsp:nvSpPr>
        <dsp:cNvPr id="0" name=""/>
        <dsp:cNvSpPr/>
      </dsp:nvSpPr>
      <dsp:spPr>
        <a:xfrm>
          <a:off x="1991753" y="3095282"/>
          <a:ext cx="2883932" cy="172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506" tIns="182506" rIns="182506" bIns="1825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b="1" kern="1200" baseline="0"/>
            <a:t>2. Client-Server Modeli (Temel İletişim)</a:t>
          </a:r>
          <a:endParaRPr lang="en-US" sz="2200" kern="1200"/>
        </a:p>
      </dsp:txBody>
      <dsp:txXfrm>
        <a:off x="1991753" y="3095282"/>
        <a:ext cx="2883932" cy="1724461"/>
      </dsp:txXfrm>
    </dsp:sp>
    <dsp:sp modelId="{AADC75A0-E565-4303-B16B-CB24166D84BF}">
      <dsp:nvSpPr>
        <dsp:cNvPr id="0" name=""/>
        <dsp:cNvSpPr/>
      </dsp:nvSpPr>
      <dsp:spPr>
        <a:xfrm>
          <a:off x="4875685" y="3095282"/>
          <a:ext cx="1531105" cy="172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506" tIns="182506" rIns="182506" bIns="182506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baseline="0"/>
            <a:t>İstek (Request): 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baseline="0"/>
            <a:t>Yanıt (Response): </a:t>
          </a:r>
          <a:endParaRPr lang="en-US" sz="1100" kern="1200"/>
        </a:p>
      </dsp:txBody>
      <dsp:txXfrm>
        <a:off x="4875685" y="3095282"/>
        <a:ext cx="1531105" cy="17244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9305A-2EC0-4176-8199-E9ED4774F540}">
      <dsp:nvSpPr>
        <dsp:cNvPr id="0" name=""/>
        <dsp:cNvSpPr/>
      </dsp:nvSpPr>
      <dsp:spPr>
        <a:xfrm>
          <a:off x="0" y="703"/>
          <a:ext cx="6408738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461443-9A09-45F8-A25F-5D89BE914E59}">
      <dsp:nvSpPr>
        <dsp:cNvPr id="0" name=""/>
        <dsp:cNvSpPr/>
      </dsp:nvSpPr>
      <dsp:spPr>
        <a:xfrm>
          <a:off x="497659" y="370863"/>
          <a:ext cx="904835" cy="904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EFC05-9F1C-4A16-BC41-24DDD6F54E66}">
      <dsp:nvSpPr>
        <dsp:cNvPr id="0" name=""/>
        <dsp:cNvSpPr/>
      </dsp:nvSpPr>
      <dsp:spPr>
        <a:xfrm>
          <a:off x="1900154" y="703"/>
          <a:ext cx="4508583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Web 1.0 döneminde her etkileşim (bir butona tıklamak, bir formu göndermek) sunucuya gidip tüm sayfanın HTML olarak yeniden gelmesini gerektiriyordu. Bu hantal ve yavaştı.</a:t>
          </a:r>
          <a:endParaRPr lang="en-US" sz="1700" kern="1200"/>
        </a:p>
      </dsp:txBody>
      <dsp:txXfrm>
        <a:off x="1900154" y="703"/>
        <a:ext cx="4508583" cy="1645155"/>
      </dsp:txXfrm>
    </dsp:sp>
    <dsp:sp modelId="{0D303639-701C-4324-9A9F-7AD35AF9315D}">
      <dsp:nvSpPr>
        <dsp:cNvPr id="0" name=""/>
        <dsp:cNvSpPr/>
      </dsp:nvSpPr>
      <dsp:spPr>
        <a:xfrm>
          <a:off x="0" y="2057147"/>
          <a:ext cx="6408738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E5B24-3BFC-4EBF-8B3F-0B1F131D70B0}">
      <dsp:nvSpPr>
        <dsp:cNvPr id="0" name=""/>
        <dsp:cNvSpPr/>
      </dsp:nvSpPr>
      <dsp:spPr>
        <a:xfrm>
          <a:off x="497659" y="2427307"/>
          <a:ext cx="904835" cy="904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9B415-4465-46DE-9DC5-7E072DD9366F}">
      <dsp:nvSpPr>
        <dsp:cNvPr id="0" name=""/>
        <dsp:cNvSpPr/>
      </dsp:nvSpPr>
      <dsp:spPr>
        <a:xfrm>
          <a:off x="1900154" y="2057147"/>
          <a:ext cx="4508583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Web 2.0 ile gelen fark:</a:t>
          </a:r>
          <a:r>
            <a:rPr lang="tr-TR" sz="1700" kern="1200"/>
            <a:t> Sayfanın sadece </a:t>
          </a:r>
          <a:r>
            <a:rPr lang="tr-TR" sz="1700" b="1" kern="1200"/>
            <a:t>bir kısmının</a:t>
          </a:r>
          <a:r>
            <a:rPr lang="tr-TR" sz="1700" kern="1200"/>
            <a:t> güncellenmesi ihtiyacı doğdu.</a:t>
          </a:r>
          <a:endParaRPr lang="en-US" sz="1700" kern="1200"/>
        </a:p>
      </dsp:txBody>
      <dsp:txXfrm>
        <a:off x="1900154" y="2057147"/>
        <a:ext cx="4508583" cy="1645155"/>
      </dsp:txXfrm>
    </dsp:sp>
    <dsp:sp modelId="{3FE77A68-EF14-45EF-A475-18954339053F}">
      <dsp:nvSpPr>
        <dsp:cNvPr id="0" name=""/>
        <dsp:cNvSpPr/>
      </dsp:nvSpPr>
      <dsp:spPr>
        <a:xfrm>
          <a:off x="0" y="4113591"/>
          <a:ext cx="6408738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15EF28-FDDB-488E-A209-A3FB347F55D6}">
      <dsp:nvSpPr>
        <dsp:cNvPr id="0" name=""/>
        <dsp:cNvSpPr/>
      </dsp:nvSpPr>
      <dsp:spPr>
        <a:xfrm>
          <a:off x="497659" y="4483751"/>
          <a:ext cx="904835" cy="904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73779-F638-4F16-A19C-55E22BE876E3}">
      <dsp:nvSpPr>
        <dsp:cNvPr id="0" name=""/>
        <dsp:cNvSpPr/>
      </dsp:nvSpPr>
      <dsp:spPr>
        <a:xfrm>
          <a:off x="1900154" y="4113591"/>
          <a:ext cx="4508583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Sebebi:</a:t>
          </a:r>
          <a:r>
            <a:rPr lang="tr-TR" sz="1700" kern="1200"/>
            <a:t> Kullanıcıların içerik oluşturmaya (sosyal medya, yorumlar, forumlar) başlaması. Veri akışı o kadar hızlandı ki, her seferinde tüm sayfayı yüklemek imkansız hale geldi.</a:t>
          </a:r>
          <a:endParaRPr lang="en-US" sz="1700" kern="1200"/>
        </a:p>
      </dsp:txBody>
      <dsp:txXfrm>
        <a:off x="1900154" y="4113591"/>
        <a:ext cx="4508583" cy="16451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FE53F-4368-4B97-A657-AA6E78AA4EF8}">
      <dsp:nvSpPr>
        <dsp:cNvPr id="0" name=""/>
        <dsp:cNvSpPr/>
      </dsp:nvSpPr>
      <dsp:spPr>
        <a:xfrm>
          <a:off x="639438" y="297704"/>
          <a:ext cx="680768" cy="6807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694A8-5DF5-4FCE-8F20-AE69648B3C9F}">
      <dsp:nvSpPr>
        <dsp:cNvPr id="0" name=""/>
        <dsp:cNvSpPr/>
      </dsp:nvSpPr>
      <dsp:spPr>
        <a:xfrm>
          <a:off x="7296" y="1115467"/>
          <a:ext cx="1945051" cy="17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b="1" kern="1200" dirty="0" err="1"/>
            <a:t>Vanilla</a:t>
          </a:r>
          <a:r>
            <a:rPr lang="tr-TR" sz="1400" b="1" kern="1200" dirty="0"/>
            <a:t> JS </a:t>
          </a:r>
          <a:r>
            <a:rPr lang="tr-TR" sz="1400" b="1" kern="1200" dirty="0">
              <a:latin typeface="Bell MT"/>
            </a:rPr>
            <a:t>ve </a:t>
          </a:r>
          <a:r>
            <a:rPr lang="tr-TR" sz="1400" b="1" kern="1200" dirty="0"/>
            <a:t>Dönemi:</a:t>
          </a:r>
          <a:r>
            <a:rPr lang="tr-TR" sz="1400" kern="1200" dirty="0"/>
            <a:t> </a:t>
          </a:r>
          <a:r>
            <a:rPr lang="tr-TR" sz="1400" kern="1200" dirty="0" err="1"/>
            <a:t>document.getElementById</a:t>
          </a:r>
          <a:r>
            <a:rPr lang="tr-TR" sz="1400" kern="1200" dirty="0"/>
            <a:t> ile her şeyi elle (</a:t>
          </a:r>
          <a:r>
            <a:rPr lang="tr-TR" sz="1400" kern="1200" dirty="0" err="1"/>
            <a:t>Imperative</a:t>
          </a:r>
          <a:r>
            <a:rPr lang="tr-TR" sz="1400" kern="1200" dirty="0"/>
            <a:t>) manipüle etmek. Kod büyüdükçe yönetilemez ("Spagetti Kod") hale gelmesi.</a:t>
          </a:r>
          <a:endParaRPr lang="en-US" sz="1400" kern="1200" dirty="0"/>
        </a:p>
      </dsp:txBody>
      <dsp:txXfrm>
        <a:off x="7296" y="1115467"/>
        <a:ext cx="1945051" cy="1750546"/>
      </dsp:txXfrm>
    </dsp:sp>
    <dsp:sp modelId="{8C6F6068-8C01-4D90-B5BA-FC9DEA47B0A3}">
      <dsp:nvSpPr>
        <dsp:cNvPr id="0" name=""/>
        <dsp:cNvSpPr/>
      </dsp:nvSpPr>
      <dsp:spPr>
        <a:xfrm>
          <a:off x="7296" y="2929732"/>
          <a:ext cx="1945051" cy="55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B5FDBA-41D2-4D3D-A6BF-203176495602}">
      <dsp:nvSpPr>
        <dsp:cNvPr id="0" name=""/>
        <dsp:cNvSpPr/>
      </dsp:nvSpPr>
      <dsp:spPr>
        <a:xfrm>
          <a:off x="2924874" y="297704"/>
          <a:ext cx="680768" cy="6807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9A288-A5F0-4A63-B3E5-B6296F9CE7AA}">
      <dsp:nvSpPr>
        <dsp:cNvPr id="0" name=""/>
        <dsp:cNvSpPr/>
      </dsp:nvSpPr>
      <dsp:spPr>
        <a:xfrm>
          <a:off x="2292732" y="1115467"/>
          <a:ext cx="1945051" cy="17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b="1" kern="1200" dirty="0"/>
            <a:t>Modern İhtiyaçlar:</a:t>
          </a:r>
          <a:endParaRPr lang="en-US" sz="1400" kern="1200" dirty="0"/>
        </a:p>
      </dsp:txBody>
      <dsp:txXfrm>
        <a:off x="2292732" y="1115467"/>
        <a:ext cx="1945051" cy="1750546"/>
      </dsp:txXfrm>
    </dsp:sp>
    <dsp:sp modelId="{8728CD3B-6350-477F-9F60-A7395EBDE175}">
      <dsp:nvSpPr>
        <dsp:cNvPr id="0" name=""/>
        <dsp:cNvSpPr/>
      </dsp:nvSpPr>
      <dsp:spPr>
        <a:xfrm>
          <a:off x="2292732" y="2929732"/>
          <a:ext cx="1945051" cy="55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43831C-39E0-49B0-A08D-F1E07CC35AF0}">
      <dsp:nvSpPr>
        <dsp:cNvPr id="0" name=""/>
        <dsp:cNvSpPr/>
      </dsp:nvSpPr>
      <dsp:spPr>
        <a:xfrm>
          <a:off x="5210309" y="297704"/>
          <a:ext cx="680768" cy="6807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5D942-C2FB-43A0-AAA3-D6F8764CDE3F}">
      <dsp:nvSpPr>
        <dsp:cNvPr id="0" name=""/>
        <dsp:cNvSpPr/>
      </dsp:nvSpPr>
      <dsp:spPr>
        <a:xfrm>
          <a:off x="4578168" y="1115467"/>
          <a:ext cx="1945051" cy="17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b="1" kern="1200" dirty="0"/>
            <a:t>Hız:</a:t>
          </a:r>
          <a:r>
            <a:rPr lang="tr-TR" sz="1400" kern="1200" dirty="0"/>
            <a:t> Sayfa yenilenmeden anlık güncellemeler.</a:t>
          </a:r>
          <a:endParaRPr lang="en-US" sz="1400" kern="1200" dirty="0"/>
        </a:p>
      </dsp:txBody>
      <dsp:txXfrm>
        <a:off x="4578168" y="1115467"/>
        <a:ext cx="1945051" cy="1750546"/>
      </dsp:txXfrm>
    </dsp:sp>
    <dsp:sp modelId="{13D9A97D-B579-479F-BB59-269DD325F783}">
      <dsp:nvSpPr>
        <dsp:cNvPr id="0" name=""/>
        <dsp:cNvSpPr/>
      </dsp:nvSpPr>
      <dsp:spPr>
        <a:xfrm>
          <a:off x="4578168" y="2929732"/>
          <a:ext cx="1945051" cy="55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541A5C-85AC-4BED-8E51-ED41B422685D}">
      <dsp:nvSpPr>
        <dsp:cNvPr id="0" name=""/>
        <dsp:cNvSpPr/>
      </dsp:nvSpPr>
      <dsp:spPr>
        <a:xfrm>
          <a:off x="7495745" y="297704"/>
          <a:ext cx="680768" cy="6807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3EC7B-FFB8-4008-B7B0-98A0B70E3215}">
      <dsp:nvSpPr>
        <dsp:cNvPr id="0" name=""/>
        <dsp:cNvSpPr/>
      </dsp:nvSpPr>
      <dsp:spPr>
        <a:xfrm>
          <a:off x="6863603" y="1115467"/>
          <a:ext cx="1945051" cy="17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b="1" kern="1200" dirty="0"/>
            <a:t>Bakım:</a:t>
          </a:r>
          <a:r>
            <a:rPr lang="tr-TR" sz="1400" kern="1200" dirty="0"/>
            <a:t> Binlerce satır kodu modüler (bileşen bazlı) yönetme zorunluluğu.</a:t>
          </a:r>
          <a:endParaRPr lang="en-US" sz="1400" kern="1200" dirty="0"/>
        </a:p>
      </dsp:txBody>
      <dsp:txXfrm>
        <a:off x="6863603" y="1115467"/>
        <a:ext cx="1945051" cy="1750546"/>
      </dsp:txXfrm>
    </dsp:sp>
    <dsp:sp modelId="{35FAA6BA-AAFF-43E9-AF04-2F30E4C02710}">
      <dsp:nvSpPr>
        <dsp:cNvPr id="0" name=""/>
        <dsp:cNvSpPr/>
      </dsp:nvSpPr>
      <dsp:spPr>
        <a:xfrm>
          <a:off x="6863603" y="2929732"/>
          <a:ext cx="1945051" cy="55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A3F096-DBDC-464E-B635-2D237A0B280E}">
      <dsp:nvSpPr>
        <dsp:cNvPr id="0" name=""/>
        <dsp:cNvSpPr/>
      </dsp:nvSpPr>
      <dsp:spPr>
        <a:xfrm>
          <a:off x="9781181" y="297704"/>
          <a:ext cx="680768" cy="68076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5C53F-BCB4-4968-9A06-443A37139119}">
      <dsp:nvSpPr>
        <dsp:cNvPr id="0" name=""/>
        <dsp:cNvSpPr/>
      </dsp:nvSpPr>
      <dsp:spPr>
        <a:xfrm>
          <a:off x="9149039" y="1115467"/>
          <a:ext cx="1945051" cy="1750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b="1" kern="1200" dirty="0"/>
            <a:t>Ekosistem:</a:t>
          </a:r>
          <a:r>
            <a:rPr lang="tr-TR" sz="1400" kern="1200" dirty="0"/>
            <a:t> </a:t>
          </a:r>
          <a:r>
            <a:rPr lang="tr-TR" sz="1400" kern="1200" dirty="0" err="1"/>
            <a:t>React</a:t>
          </a:r>
          <a:r>
            <a:rPr lang="tr-TR" sz="1400" kern="1200" dirty="0"/>
            <a:t>, </a:t>
          </a:r>
          <a:r>
            <a:rPr lang="tr-TR" sz="1400" kern="1200" dirty="0" err="1"/>
            <a:t>Vue</a:t>
          </a:r>
          <a:r>
            <a:rPr lang="tr-TR" sz="1400" kern="1200" dirty="0"/>
            <a:t> ve </a:t>
          </a:r>
          <a:r>
            <a:rPr lang="tr-TR" sz="1400" kern="1200" dirty="0" err="1"/>
            <a:t>Angular'ın</a:t>
          </a:r>
          <a:r>
            <a:rPr lang="tr-TR" sz="1400" kern="1200" dirty="0"/>
            <a:t> sunduğu hazır çözümler.</a:t>
          </a:r>
          <a:endParaRPr lang="en-US" sz="1400" kern="1200" dirty="0"/>
        </a:p>
      </dsp:txBody>
      <dsp:txXfrm>
        <a:off x="9149039" y="1115467"/>
        <a:ext cx="1945051" cy="1750546"/>
      </dsp:txXfrm>
    </dsp:sp>
    <dsp:sp modelId="{D427F7C1-AB81-469B-AAD5-C971640E30A2}">
      <dsp:nvSpPr>
        <dsp:cNvPr id="0" name=""/>
        <dsp:cNvSpPr/>
      </dsp:nvSpPr>
      <dsp:spPr>
        <a:xfrm>
          <a:off x="9149039" y="2929732"/>
          <a:ext cx="1945051" cy="55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28B84F-6C32-4B4B-81B8-8DD5EE2C12AD}">
      <dsp:nvSpPr>
        <dsp:cNvPr id="0" name=""/>
        <dsp:cNvSpPr/>
      </dsp:nvSpPr>
      <dsp:spPr>
        <a:xfrm>
          <a:off x="0" y="70218"/>
          <a:ext cx="640873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kern="1200"/>
            <a:t>1. XMLHttpRequest (XHR) ve Asenkron Devrim</a:t>
          </a:r>
          <a:endParaRPr lang="en-US" sz="1900" kern="1200"/>
        </a:p>
      </dsp:txBody>
      <dsp:txXfrm>
        <a:off x="22246" y="92464"/>
        <a:ext cx="6364246" cy="411223"/>
      </dsp:txXfrm>
    </dsp:sp>
    <dsp:sp modelId="{B77F6BE8-BC60-4CEB-AC46-43D476A3A80F}">
      <dsp:nvSpPr>
        <dsp:cNvPr id="0" name=""/>
        <dsp:cNvSpPr/>
      </dsp:nvSpPr>
      <dsp:spPr>
        <a:xfrm>
          <a:off x="0" y="525933"/>
          <a:ext cx="6408738" cy="1415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47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Geleneksel Model:</a:t>
          </a:r>
          <a:r>
            <a:rPr lang="tr-TR" sz="1500" kern="1200"/>
            <a:t> Her etkileşimde tüm binanın yıkılıp yeniden yapılması (Full-page refresh).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XHR (Arka Kapı Postacısı):</a:t>
          </a:r>
          <a:r>
            <a:rPr lang="tr-TR" sz="1500" kern="1200"/>
            <a:t> Kullanıcı sayfayı kullanmaya devam ederken, arka planda sadece gerekli </a:t>
          </a:r>
          <a:r>
            <a:rPr lang="tr-TR" sz="1500" b="1" kern="1200"/>
            <a:t>veriyi</a:t>
          </a:r>
          <a:r>
            <a:rPr lang="tr-TR" sz="1500" kern="1200"/>
            <a:t> çekme yeteneği.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Asenkron Yapı:</a:t>
          </a:r>
          <a:r>
            <a:rPr lang="tr-TR" sz="1500" kern="1200"/>
            <a:t> "Yanıt gelene kadar hayat durmaz." Veri transferi sırasında sayfa donmaz, kesintisiz etkileşim sağlanır.</a:t>
          </a:r>
          <a:endParaRPr lang="en-US" sz="1500" kern="1200"/>
        </a:p>
      </dsp:txBody>
      <dsp:txXfrm>
        <a:off x="0" y="525933"/>
        <a:ext cx="6408738" cy="1415880"/>
      </dsp:txXfrm>
    </dsp:sp>
    <dsp:sp modelId="{CC9D44CE-22F7-4E00-9BA9-C88CB61CBA56}">
      <dsp:nvSpPr>
        <dsp:cNvPr id="0" name=""/>
        <dsp:cNvSpPr/>
      </dsp:nvSpPr>
      <dsp:spPr>
        <a:xfrm>
          <a:off x="0" y="1941813"/>
          <a:ext cx="640873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kern="1200"/>
            <a:t>2. DOM Manipülasyonu: "Sayfa"dan "Uygulama"ya</a:t>
          </a:r>
          <a:endParaRPr lang="en-US" sz="1900" kern="1200"/>
        </a:p>
      </dsp:txBody>
      <dsp:txXfrm>
        <a:off x="22246" y="1964059"/>
        <a:ext cx="6364246" cy="411223"/>
      </dsp:txXfrm>
    </dsp:sp>
    <dsp:sp modelId="{88B97875-61B9-4824-ACF3-E7CDFB240AF3}">
      <dsp:nvSpPr>
        <dsp:cNvPr id="0" name=""/>
        <dsp:cNvSpPr/>
      </dsp:nvSpPr>
      <dsp:spPr>
        <a:xfrm>
          <a:off x="0" y="2397528"/>
          <a:ext cx="6408738" cy="1415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47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DOM (Document Object Model):</a:t>
          </a:r>
          <a:r>
            <a:rPr lang="tr-TR" sz="1500" kern="1200"/>
            <a:t> Tarayıcının HTML kodunu yaşayan bir ağaç yapısı olarak hafızaya alması.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Canlı Müdahale:</a:t>
          </a:r>
          <a:r>
            <a:rPr lang="tr-TR" sz="1500" kern="1200"/>
            <a:t> JavaScript'in bu ağacın dallarını (elementleri) anlık olarak kesme, ekleme veya güncelleme yetkisi.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Dinamik Güncelleme:</a:t>
          </a:r>
          <a:r>
            <a:rPr lang="tr-TR" sz="1500" kern="1200"/>
            <a:t> Sayfa yenilenmeden güncellenen sepet tutarı veya canlı skorlar. Web siteleri artık birer </a:t>
          </a:r>
          <a:r>
            <a:rPr lang="tr-TR" sz="1500" b="1" kern="1200"/>
            <a:t>"Web App"</a:t>
          </a:r>
          <a:r>
            <a:rPr lang="tr-TR" sz="1500" kern="1200"/>
            <a:t> halini aldı.</a:t>
          </a:r>
          <a:endParaRPr lang="en-US" sz="1500" kern="1200"/>
        </a:p>
      </dsp:txBody>
      <dsp:txXfrm>
        <a:off x="0" y="2397528"/>
        <a:ext cx="6408738" cy="1415880"/>
      </dsp:txXfrm>
    </dsp:sp>
    <dsp:sp modelId="{43A94D63-F87D-435D-AD8B-7A3B5E3D54CF}">
      <dsp:nvSpPr>
        <dsp:cNvPr id="0" name=""/>
        <dsp:cNvSpPr/>
      </dsp:nvSpPr>
      <dsp:spPr>
        <a:xfrm>
          <a:off x="0" y="3813408"/>
          <a:ext cx="640873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kern="1200"/>
            <a:t>3. Motorların Savaşı (V8 ve Performans)</a:t>
          </a:r>
          <a:endParaRPr lang="en-US" sz="1900" kern="1200"/>
        </a:p>
      </dsp:txBody>
      <dsp:txXfrm>
        <a:off x="22246" y="3835654"/>
        <a:ext cx="6364246" cy="411223"/>
      </dsp:txXfrm>
    </dsp:sp>
    <dsp:sp modelId="{44E1F0B0-60B0-4905-8C67-2D6DE82A5520}">
      <dsp:nvSpPr>
        <dsp:cNvPr id="0" name=""/>
        <dsp:cNvSpPr/>
      </dsp:nvSpPr>
      <dsp:spPr>
        <a:xfrm>
          <a:off x="0" y="4269123"/>
          <a:ext cx="6408738" cy="1415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47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V8 Devrimi:</a:t>
          </a:r>
          <a:r>
            <a:rPr lang="tr-TR" sz="1500" kern="1200"/>
            <a:t> JavaScript'in "satır satır okunmak" yerine makine diline derlenerek (JIT) ışık hızına ulaşması.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Güç Transferi:</a:t>
          </a:r>
          <a:r>
            <a:rPr lang="tr-TR" sz="1500" kern="1200"/>
            <a:t> Karmaşık işleme yükünün sunucudan (Server) kullanıcının cihazına (Client) taşınması.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tr-TR" sz="1500" b="1" kern="1200"/>
            <a:t>Sonuç:</a:t>
          </a:r>
          <a:r>
            <a:rPr lang="tr-TR" sz="1500" kern="1200"/>
            <a:t> Tarayıcıların basit birer görüntüleyici değil, güçlü birer </a:t>
          </a:r>
          <a:r>
            <a:rPr lang="tr-TR" sz="1500" b="1" kern="1200"/>
            <a:t>çalıştırma ortamı (runtime)</a:t>
          </a:r>
          <a:r>
            <a:rPr lang="tr-TR" sz="1500" kern="1200"/>
            <a:t> olması.</a:t>
          </a:r>
          <a:endParaRPr lang="en-US" sz="1500" kern="1200"/>
        </a:p>
      </dsp:txBody>
      <dsp:txXfrm>
        <a:off x="0" y="4269123"/>
        <a:ext cx="6408738" cy="1415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01300-BB71-456D-B380-61E3ED60166E}">
      <dsp:nvSpPr>
        <dsp:cNvPr id="0" name=""/>
        <dsp:cNvSpPr/>
      </dsp:nvSpPr>
      <dsp:spPr>
        <a:xfrm>
          <a:off x="0" y="703"/>
          <a:ext cx="6408738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E2E885-DD71-43C3-B868-76776E8ED892}">
      <dsp:nvSpPr>
        <dsp:cNvPr id="0" name=""/>
        <dsp:cNvSpPr/>
      </dsp:nvSpPr>
      <dsp:spPr>
        <a:xfrm>
          <a:off x="497659" y="370863"/>
          <a:ext cx="904835" cy="904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05348-2408-492A-912C-5D63F02967D3}">
      <dsp:nvSpPr>
        <dsp:cNvPr id="0" name=""/>
        <dsp:cNvSpPr/>
      </dsp:nvSpPr>
      <dsp:spPr>
        <a:xfrm>
          <a:off x="1900154" y="703"/>
          <a:ext cx="4508583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Eskiden JavaScript sadece kar yağdırma efekti veya basit form kontrolleri için kullanılırdı. Web 2.0 ile birlikte JS, </a:t>
          </a:r>
          <a:r>
            <a:rPr lang="tr-TR" sz="1600" b="1" kern="1200"/>
            <a:t>uygulamanın beyni</a:t>
          </a:r>
          <a:r>
            <a:rPr lang="tr-TR" sz="1600" kern="1200"/>
            <a:t> haline geldi.</a:t>
          </a:r>
          <a:endParaRPr lang="en-US" sz="1600" kern="1200"/>
        </a:p>
      </dsp:txBody>
      <dsp:txXfrm>
        <a:off x="1900154" y="703"/>
        <a:ext cx="4508583" cy="1645155"/>
      </dsp:txXfrm>
    </dsp:sp>
    <dsp:sp modelId="{6A99EA22-1F92-4AE3-8AA4-1F1C0268CC4F}">
      <dsp:nvSpPr>
        <dsp:cNvPr id="0" name=""/>
        <dsp:cNvSpPr/>
      </dsp:nvSpPr>
      <dsp:spPr>
        <a:xfrm>
          <a:off x="0" y="2057147"/>
          <a:ext cx="6408738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D732B-E120-43A2-A982-D20A04746168}">
      <dsp:nvSpPr>
        <dsp:cNvPr id="0" name=""/>
        <dsp:cNvSpPr/>
      </dsp:nvSpPr>
      <dsp:spPr>
        <a:xfrm>
          <a:off x="497659" y="2427307"/>
          <a:ext cx="904835" cy="904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E83D8-A593-4FC9-82FE-A7A322757040}">
      <dsp:nvSpPr>
        <dsp:cNvPr id="0" name=""/>
        <dsp:cNvSpPr/>
      </dsp:nvSpPr>
      <dsp:spPr>
        <a:xfrm>
          <a:off x="1900154" y="2057147"/>
          <a:ext cx="4508583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1" kern="1200"/>
            <a:t>Asenkron Programlama:</a:t>
          </a:r>
          <a:r>
            <a:rPr lang="tr-TR" sz="1600" kern="1200"/>
            <a:t> JavaScript, sunucudan yanıt gelmesini beklerken tarayıcıyı dondurmamayı öğrendi. Bu sayede "Google Maps" gibi sayfayı kaydırdıkça yüklenen uygulamalar doğdu.</a:t>
          </a:r>
          <a:endParaRPr lang="en-US" sz="1600" kern="1200"/>
        </a:p>
      </dsp:txBody>
      <dsp:txXfrm>
        <a:off x="1900154" y="2057147"/>
        <a:ext cx="4508583" cy="1645155"/>
      </dsp:txXfrm>
    </dsp:sp>
    <dsp:sp modelId="{66CD7EFC-39B5-43E5-BF3F-D90B1F7A70B7}">
      <dsp:nvSpPr>
        <dsp:cNvPr id="0" name=""/>
        <dsp:cNvSpPr/>
      </dsp:nvSpPr>
      <dsp:spPr>
        <a:xfrm>
          <a:off x="0" y="4113591"/>
          <a:ext cx="6408738" cy="16451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561C9-E20E-4968-92F8-CC1D5E517B75}">
      <dsp:nvSpPr>
        <dsp:cNvPr id="0" name=""/>
        <dsp:cNvSpPr/>
      </dsp:nvSpPr>
      <dsp:spPr>
        <a:xfrm>
          <a:off x="497659" y="4483751"/>
          <a:ext cx="904835" cy="904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3FDE1-4232-4943-875E-86A73450BB4A}">
      <dsp:nvSpPr>
        <dsp:cNvPr id="0" name=""/>
        <dsp:cNvSpPr/>
      </dsp:nvSpPr>
      <dsp:spPr>
        <a:xfrm>
          <a:off x="1900154" y="4113591"/>
          <a:ext cx="4508583" cy="164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12" tIns="174112" rIns="174112" bIns="17411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1" kern="1200"/>
            <a:t>Veri İşleme (JSON):</a:t>
          </a:r>
          <a:r>
            <a:rPr lang="tr-TR" sz="1600" kern="1200"/>
            <a:t> JavaScript, sunucudan gelen ham veriyi (JSON) alıp anında HTML'e dönüştürmeye başladı. Bu, işleme yükünü sunucudan alıp kullanıcının tarayıcısına (Client-side) dağıttı.</a:t>
          </a:r>
          <a:endParaRPr lang="en-US" sz="1600" kern="1200"/>
        </a:p>
      </dsp:txBody>
      <dsp:txXfrm>
        <a:off x="1900154" y="4113591"/>
        <a:ext cx="4508583" cy="16451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410E2-00BF-4D6F-B162-ED2B133F737D}">
      <dsp:nvSpPr>
        <dsp:cNvPr id="0" name=""/>
        <dsp:cNvSpPr/>
      </dsp:nvSpPr>
      <dsp:spPr>
        <a:xfrm>
          <a:off x="0" y="935910"/>
          <a:ext cx="6408738" cy="17278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EC273-8B2A-4C86-BDFE-A3254D60F2E3}">
      <dsp:nvSpPr>
        <dsp:cNvPr id="0" name=""/>
        <dsp:cNvSpPr/>
      </dsp:nvSpPr>
      <dsp:spPr>
        <a:xfrm>
          <a:off x="522670" y="1324673"/>
          <a:ext cx="950309" cy="9503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55610-87A7-410E-B8A5-C986DC7E8609}">
      <dsp:nvSpPr>
        <dsp:cNvPr id="0" name=""/>
        <dsp:cNvSpPr/>
      </dsp:nvSpPr>
      <dsp:spPr>
        <a:xfrm>
          <a:off x="1995649" y="935910"/>
          <a:ext cx="4413088" cy="1727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63" tIns="182863" rIns="182863" bIns="1828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kern="1200"/>
            <a:t>Veritabanı Erişimi:</a:t>
          </a:r>
          <a:r>
            <a:rPr lang="tr-TR" sz="1900" kern="1200"/>
            <a:t> Next.js ile tarayıcıya hiç uğramadan, doğrudan sunucu üzerinden veritabanına bağlanabilirsin. Bu, hassas verilerin kullanıcıya hiç gitmemesini sağlar.</a:t>
          </a:r>
          <a:endParaRPr lang="en-US" sz="1900" kern="1200"/>
        </a:p>
      </dsp:txBody>
      <dsp:txXfrm>
        <a:off x="1995649" y="935910"/>
        <a:ext cx="4413088" cy="1727835"/>
      </dsp:txXfrm>
    </dsp:sp>
    <dsp:sp modelId="{2F5F6A09-C34A-4A9D-BED1-19EEFCBE44BB}">
      <dsp:nvSpPr>
        <dsp:cNvPr id="0" name=""/>
        <dsp:cNvSpPr/>
      </dsp:nvSpPr>
      <dsp:spPr>
        <a:xfrm>
          <a:off x="0" y="3095704"/>
          <a:ext cx="6408738" cy="17278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331FE-11C9-4494-84F5-36BDDBA0DEF4}">
      <dsp:nvSpPr>
        <dsp:cNvPr id="0" name=""/>
        <dsp:cNvSpPr/>
      </dsp:nvSpPr>
      <dsp:spPr>
        <a:xfrm>
          <a:off x="522670" y="3484467"/>
          <a:ext cx="950309" cy="9503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A6E45-476E-439B-BE09-EC9F2E3C3639}">
      <dsp:nvSpPr>
        <dsp:cNvPr id="0" name=""/>
        <dsp:cNvSpPr/>
      </dsp:nvSpPr>
      <dsp:spPr>
        <a:xfrm>
          <a:off x="1995649" y="3095704"/>
          <a:ext cx="4413088" cy="1727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63" tIns="182863" rIns="182863" bIns="1828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1" kern="1200"/>
            <a:t>Hassas API'lar:</a:t>
          </a:r>
          <a:r>
            <a:rPr lang="tr-TR" sz="1900" kern="1200"/>
            <a:t> Ödeme sistemleri (Stripe, banka sanal posları) gibi gizli anahtar gerektiren işlemler sunucu tarafında güvenli bir şekilde yürütülür.</a:t>
          </a:r>
          <a:endParaRPr lang="en-US" sz="1900" kern="1200"/>
        </a:p>
      </dsp:txBody>
      <dsp:txXfrm>
        <a:off x="1995649" y="3095704"/>
        <a:ext cx="4413088" cy="1727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2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1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2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7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7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2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3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5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1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1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2/8/2026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133226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11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document-object-mode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asor.github.io/microsoft-architecture-and-implementations.html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domain.com/blog/makale-adi" TargetMode="External"/><Relationship Id="rId2" Type="http://schemas.openxmlformats.org/officeDocument/2006/relationships/hyperlink" Target="https://www.google.com/search?q=https://domain.com/product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E59CF68-BABE-4C2C-8CF4-65074F93B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1D28A9-431E-4E55-ADE3-161D757A2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2CEE02A-6F09-45F4-B9A5-7C18CC77D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E8156EC-CE46-48E4-9D85-95D9D8BEB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B9DDD85-3F41-4B1D-9372-0773066B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1131344-09B5-4648-B3ED-C0DCDA592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83500BA-71FE-4DAF-BE27-C182514DC0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B5220F2-0C35-4C88-8E51-ECBD8A66D0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7B188C7-435E-43E1-92A9-8C3870670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B3992E9-AE5B-4001-81F2-F0257DA37E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A9B8F0F-31BC-431F-A85C-5BAA30B9F0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A5E54EA-3C4C-4DAB-9DD7-8ADFC0CC1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BE9D418-D5B0-47F9-88F0-342F7E9E5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56975" y="0"/>
            <a:ext cx="5655263" cy="4366126"/>
            <a:chOff x="3356975" y="0"/>
            <a:chExt cx="5655263" cy="4366126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A4AD92B-6DC1-4915-8A6F-605636346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2238" y="4612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0E4588A-7467-4351-8A34-312A1D4E8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56975" y="0"/>
              <a:ext cx="4320000" cy="43200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" descr="Bir üst görünümde degrade pastel renkleri">
            <a:extLst>
              <a:ext uri="{FF2B5EF4-FFF2-40B4-BE49-F238E27FC236}">
                <a16:creationId xmlns:a16="http://schemas.microsoft.com/office/drawing/2014/main" id="{E5984FA7-0E60-9067-9AF9-3A029654A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36" r="10515" b="1"/>
          <a:stretch>
            <a:fillRect/>
          </a:stretch>
        </p:blipFill>
        <p:spPr>
          <a:xfrm>
            <a:off x="3936000" y="180000"/>
            <a:ext cx="4320000" cy="4320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508000"/>
          </a:effec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0D24FCD-9833-481C-96FB-849603CC5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23887"/>
            <a:ext cx="12192000" cy="4434114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100000">
                <a:schemeClr val="bg2">
                  <a:alpha val="80000"/>
                </a:schemeClr>
              </a:gs>
              <a:gs pos="7000">
                <a:schemeClr val="bg2">
                  <a:alpha val="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487487" y="3768810"/>
            <a:ext cx="9217026" cy="1769459"/>
          </a:xfrm>
        </p:spPr>
        <p:txBody>
          <a:bodyPr>
            <a:normAutofit/>
          </a:bodyPr>
          <a:lstStyle/>
          <a:p>
            <a:pPr algn="ctr"/>
            <a:r>
              <a:rPr lang="tr-TR" sz="6000" dirty="0"/>
              <a:t>FRONTEND GİRİŞ</a:t>
            </a:r>
            <a:endParaRPr lang="tr-TR" sz="6000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0AB578-F3D7-BCBE-4FF6-01DF1984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BB50EF4-6767-082E-D26E-A507E2E56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3980A1-63CE-4721-B26C-799845217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7F1130-8D8C-D5D8-D64E-A97D97BDE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3D4C052-F67C-3B8B-6D4B-0B2B9A5ED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CABEC25-64D9-98DB-315C-75DB74491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BC6F4B0-41E0-973F-C34E-77803A3C4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E59F629-20A0-CE57-4AF6-BF01B59DAA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1FD4BA7-9682-E08B-4454-636EF4D89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E462C7A-55B0-50F7-C2BF-40722508E9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B42AC3A-B801-DE9D-71DA-088F9FA0F9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259C521-F437-FAFE-CF52-9D5406605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210F9F2-1B90-36C1-EA93-7E69C3BD8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33F2FC4-7F2D-24D8-B92E-4A3012151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D28606E-AA1A-D491-3CF5-1E09AFEDC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53F518-D9DB-D5E3-2EFD-D7E378BB3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91437B2-0CE3-246D-68AC-909BC0CB4C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9DD6575-CEE9-110A-2D49-FF943DA72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781A268-CC8F-17A2-6775-BAC6D379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BA8380B-B293-79A8-3E42-5334B6F38E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CD838D3-4A2D-9437-CEC9-A17036B678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1BDECB0-6CF1-0B9A-DCF9-FBBE4ED9E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833763B-308D-A0D0-A4BE-D82B306330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D67DEDC-5AC6-2A55-FE65-EFB3584D14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776A08-B904-9E7B-E1F3-5817DAE8A6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9F1C9D4-8F98-31AF-5576-072043287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40B778A-F9BD-C33E-2EBF-C5861C49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3768810"/>
            <a:ext cx="9217026" cy="17694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BÖLÜM </a:t>
            </a:r>
            <a:br>
              <a:rPr lang="en-US" dirty="0"/>
            </a:br>
            <a:r>
              <a:rPr lang="en-US" dirty="0"/>
              <a:t>1</a:t>
            </a:r>
          </a:p>
        </p:txBody>
      </p:sp>
      <p:pic>
        <p:nvPicPr>
          <p:cNvPr id="7" name="Graphic 6" descr="Kitaplar">
            <a:extLst>
              <a:ext uri="{FF2B5EF4-FFF2-40B4-BE49-F238E27FC236}">
                <a16:creationId xmlns:a16="http://schemas.microsoft.com/office/drawing/2014/main" id="{C252ED75-4786-2AE4-8270-BD882B05A6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4680" y="549275"/>
            <a:ext cx="27717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2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D24B359-61F6-21E2-EE57-A2A6D547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0" y="540000"/>
            <a:ext cx="4500561" cy="5759450"/>
          </a:xfrm>
        </p:spPr>
        <p:txBody>
          <a:bodyPr anchor="ctr">
            <a:normAutofit/>
          </a:bodyPr>
          <a:lstStyle/>
          <a:p>
            <a:r>
              <a:rPr lang="tr-TR" sz="8800" b="1">
                <a:ea typeface="+mj-lt"/>
                <a:cs typeface="+mj-lt"/>
              </a:rPr>
              <a:t>Web'in Evrimi</a:t>
            </a:r>
            <a:endParaRPr lang="tr-TR" sz="8800" b="1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94AE2AB8-E300-C833-90EE-A158AB8FE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07109"/>
              </p:ext>
            </p:extLst>
          </p:nvPr>
        </p:nvGraphicFramePr>
        <p:xfrm>
          <a:off x="540000" y="540000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422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7F832D9-9E09-40D4-AD67-47851A25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A708264-98DD-03E2-33D9-4805147D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19535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Web 1.0 </a:t>
            </a:r>
            <a:br>
              <a:rPr lang="en-US" sz="4200"/>
            </a:br>
            <a:r>
              <a:rPr lang="en-US" sz="4200"/>
              <a:t>(The Read-Only Web): </a:t>
            </a:r>
            <a:endParaRPr lang="en-US" sz="4200" u="sng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D38F96D-02A4-A4A7-E562-4C67F87D3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32400" y="540000"/>
            <a:ext cx="6408738" cy="19695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70000">
              <a:buFont typeface="Arial" panose="020B0604020202020204" pitchFamily="34" charset="0"/>
              <a:buChar char="•"/>
            </a:pPr>
            <a:r>
              <a:rPr lang="en-US" sz="1800" spc="50"/>
              <a:t>Sadece bilgi tüketimi. Gazete okur gibi.</a:t>
            </a:r>
          </a:p>
          <a:p>
            <a:pPr indent="-270000">
              <a:buFont typeface="Arial" panose="020B0604020202020204" pitchFamily="34" charset="0"/>
              <a:buChar char="•"/>
            </a:pPr>
            <a:r>
              <a:rPr lang="en-US" sz="1800" spc="50"/>
              <a:t> (Örn: İlk CERN web sitesi).</a:t>
            </a:r>
          </a:p>
        </p:txBody>
      </p:sp>
      <p:pic>
        <p:nvPicPr>
          <p:cNvPr id="11" name="İçerik Yer Tutucusu 10" descr="Web 1.0 vs Web 2.0 vs Web 3.0. What are the differences?">
            <a:extLst>
              <a:ext uri="{FF2B5EF4-FFF2-40B4-BE49-F238E27FC236}">
                <a16:creationId xmlns:a16="http://schemas.microsoft.com/office/drawing/2014/main" id="{56422745-416F-A725-BE0D-523539111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88905" y="2871846"/>
            <a:ext cx="8403324" cy="344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3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8" name="Rectangle 18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9" name="Rectangle 20">
            <a:extLst>
              <a:ext uri="{FF2B5EF4-FFF2-40B4-BE49-F238E27FC236}">
                <a16:creationId xmlns:a16="http://schemas.microsoft.com/office/drawing/2014/main" id="{853E39E6-2A74-404E-B4BC-EEC89C01B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32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B56221-B93A-3B2A-F2F2-2FB61D51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Web 2.0 (The Social/Participatory Web):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D253D93-3319-4E06-B75F-009AE70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44576" cy="6858000"/>
          </a:xfrm>
          <a:custGeom>
            <a:avLst/>
            <a:gdLst>
              <a:gd name="connsiteX0" fmla="*/ 0 w 6444576"/>
              <a:gd name="connsiteY0" fmla="*/ 0 h 6858000"/>
              <a:gd name="connsiteX1" fmla="*/ 6444576 w 6444576"/>
              <a:gd name="connsiteY1" fmla="*/ 0 h 6858000"/>
              <a:gd name="connsiteX2" fmla="*/ 6444576 w 6444576"/>
              <a:gd name="connsiteY2" fmla="*/ 6858000 h 6858000"/>
              <a:gd name="connsiteX3" fmla="*/ 0 w 64445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4576" h="6858000">
                <a:moveTo>
                  <a:pt x="0" y="0"/>
                </a:moveTo>
                <a:lnTo>
                  <a:pt x="6444576" y="0"/>
                </a:lnTo>
                <a:lnTo>
                  <a:pt x="6444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İçerik Yer Tutucusu 4" descr="Twitter.com launches its big redesign with simpler navigation and more ...">
            <a:extLst>
              <a:ext uri="{FF2B5EF4-FFF2-40B4-BE49-F238E27FC236}">
                <a16:creationId xmlns:a16="http://schemas.microsoft.com/office/drawing/2014/main" id="{AB82EBAE-4110-5165-0582-E267D38D2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524" y="1545921"/>
            <a:ext cx="5808975" cy="3773279"/>
          </a:xfrm>
          <a:prstGeom prst="rect">
            <a:avLst/>
          </a:prstGeo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B2651E3-7392-1B29-73D4-9077C788E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04063" y="2947121"/>
            <a:ext cx="4537073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70000">
              <a:buFont typeface="Arial" panose="020B0604020202020204" pitchFamily="34" charset="0"/>
              <a:buChar char="•"/>
            </a:pPr>
            <a:r>
              <a:rPr lang="en-US" sz="1800" spc="50"/>
              <a:t>Kullanıcı içeriği üretir. Sosyal medya, bloglar, AJAX teknolojisi ile sayfa yenilenmeden veri güncellenmesi.</a:t>
            </a:r>
          </a:p>
        </p:txBody>
      </p:sp>
    </p:spTree>
    <p:extLst>
      <p:ext uri="{BB962C8B-B14F-4D97-AF65-F5344CB8AC3E}">
        <p14:creationId xmlns:p14="http://schemas.microsoft.com/office/powerpoint/2010/main" val="94403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9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8" name="Rectangle 58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49" name="Rectangle 60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62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74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48FD73A-183B-BE35-B8C7-EB3D926A8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cap="all"/>
          </a:p>
          <a:p>
            <a:pPr marL="285750" indent="-285750"/>
            <a:endParaRPr lang="en-US" sz="2400" cap="all" dirty="0"/>
          </a:p>
        </p:txBody>
      </p:sp>
      <p:pic>
        <p:nvPicPr>
          <p:cNvPr id="5" name="İçerik Yer Tutucusu 4" descr="Client Server Application Architecture Diagram Pdf Free - Infoupdate.org">
            <a:extLst>
              <a:ext uri="{FF2B5EF4-FFF2-40B4-BE49-F238E27FC236}">
                <a16:creationId xmlns:a16="http://schemas.microsoft.com/office/drawing/2014/main" id="{3DE7E823-AFF9-ACB6-5FE6-FABA96946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000" y="1685070"/>
            <a:ext cx="6049714" cy="3478584"/>
          </a:xfrm>
          <a:prstGeom prst="rect">
            <a:avLst/>
          </a:prstGeo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776661D-C5B1-173F-478B-4AF7DBB30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11184" y="1686616"/>
            <a:ext cx="4537073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88900" indent="-342900">
              <a:buChar char="•"/>
            </a:pPr>
            <a:r>
              <a:rPr lang="en-US" sz="2400" b="1" cap="all" spc="50" dirty="0" err="1"/>
              <a:t>İstek</a:t>
            </a:r>
            <a:r>
              <a:rPr lang="en-US" sz="2400" b="1" cap="all" spc="50" dirty="0"/>
              <a:t> (Request)</a:t>
            </a:r>
            <a:r>
              <a:rPr lang="en-US" sz="2400" cap="all" spc="50" dirty="0"/>
              <a:t>:</a:t>
            </a:r>
            <a:br>
              <a:rPr lang="en-US" sz="2400" cap="all" spc="50" dirty="0"/>
            </a:br>
            <a:r>
              <a:rPr lang="en-US" sz="1800" spc="50" dirty="0"/>
              <a:t>   </a:t>
            </a:r>
            <a:r>
              <a:rPr lang="en-US" sz="2000" spc="50" dirty="0"/>
              <a:t> </a:t>
            </a:r>
            <a:r>
              <a:rPr lang="en-US" sz="2000" spc="50" dirty="0" err="1"/>
              <a:t>Tarayıcı</a:t>
            </a:r>
            <a:r>
              <a:rPr lang="en-US" sz="2000" spc="50" dirty="0"/>
              <a:t> (Client), </a:t>
            </a:r>
            <a:r>
              <a:rPr lang="en-US" sz="2000" spc="50" dirty="0" err="1"/>
              <a:t>sunucudan</a:t>
            </a:r>
            <a:r>
              <a:rPr lang="en-US" sz="2000" spc="50" dirty="0"/>
              <a:t> </a:t>
            </a:r>
            <a:r>
              <a:rPr lang="en-US" sz="2000" spc="50" dirty="0" err="1"/>
              <a:t>birâ</a:t>
            </a:r>
            <a:r>
              <a:rPr lang="en-US" sz="2000" spc="50" dirty="0"/>
              <a:t> </a:t>
            </a:r>
            <a:r>
              <a:rPr lang="en-US" sz="2000" spc="50" dirty="0" err="1"/>
              <a:t>kaynak</a:t>
            </a:r>
            <a:r>
              <a:rPr lang="en-US" sz="2000" spc="50" dirty="0"/>
              <a:t> </a:t>
            </a:r>
            <a:r>
              <a:rPr lang="en-US" sz="2000" spc="50" dirty="0" err="1"/>
              <a:t>ister</a:t>
            </a:r>
            <a:r>
              <a:rPr lang="en-US" sz="2000" spc="50" dirty="0"/>
              <a:t> (GET /home).</a:t>
            </a:r>
            <a:endParaRPr lang="en-US" sz="2000" cap="all" spc="50" dirty="0"/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en-US" sz="2400" b="1" spc="50" err="1">
                <a:latin typeface="Bell MT"/>
              </a:rPr>
              <a:t>Yanıt</a:t>
            </a:r>
            <a:r>
              <a:rPr lang="en-US" sz="2400" b="1" spc="50">
                <a:latin typeface="Bell MT"/>
              </a:rPr>
              <a:t> (Response):</a:t>
            </a:r>
            <a:r>
              <a:rPr lang="en-US" sz="2400" spc="50" dirty="0">
                <a:latin typeface="Bell MT"/>
              </a:rPr>
              <a:t>  </a:t>
            </a:r>
            <a:r>
              <a:rPr lang="en-US" sz="2000" spc="50" err="1">
                <a:latin typeface="Bell MT"/>
              </a:rPr>
              <a:t>Sunucu</a:t>
            </a:r>
            <a:r>
              <a:rPr lang="en-US" sz="2000" spc="50">
                <a:latin typeface="Bell MT"/>
              </a:rPr>
              <a:t> </a:t>
            </a:r>
            <a:r>
              <a:rPr lang="en-US" sz="2000" spc="50" err="1">
                <a:latin typeface="Bell MT"/>
              </a:rPr>
              <a:t>veriyi</a:t>
            </a:r>
            <a:r>
              <a:rPr lang="en-US" sz="2000" spc="50">
                <a:latin typeface="Bell MT"/>
              </a:rPr>
              <a:t> (HTML/JSON)</a:t>
            </a:r>
            <a:r>
              <a:rPr lang="en-US" sz="2000" spc="50" err="1">
                <a:latin typeface="Bell MT"/>
              </a:rPr>
              <a:t>paketler</a:t>
            </a:r>
            <a:r>
              <a:rPr lang="en-US" sz="2000" spc="50">
                <a:latin typeface="Bell MT"/>
              </a:rPr>
              <a:t> </a:t>
            </a:r>
            <a:r>
              <a:rPr lang="en-US" sz="2000" spc="50" err="1">
                <a:latin typeface="Bell MT"/>
              </a:rPr>
              <a:t>ve</a:t>
            </a:r>
            <a:r>
              <a:rPr lang="en-US" sz="2000" spc="50">
                <a:latin typeface="Bell MT"/>
              </a:rPr>
              <a:t> </a:t>
            </a:r>
            <a:r>
              <a:rPr lang="en-US" sz="2000" spc="50" err="1">
                <a:latin typeface="Bell MT"/>
              </a:rPr>
              <a:t>gönderir</a:t>
            </a:r>
            <a:r>
              <a:rPr lang="en-US" sz="2000" spc="50">
                <a:latin typeface="Bell MT"/>
              </a:rPr>
              <a:t>.</a:t>
            </a:r>
            <a:endParaRPr lang="en-US"/>
          </a:p>
          <a:p>
            <a:pPr indent="-269875">
              <a:buChar char="•"/>
            </a:pPr>
            <a:endParaRPr lang="en-US" sz="1800" spc="50"/>
          </a:p>
        </p:txBody>
      </p:sp>
    </p:spTree>
    <p:extLst>
      <p:ext uri="{BB962C8B-B14F-4D97-AF65-F5344CB8AC3E}">
        <p14:creationId xmlns:p14="http://schemas.microsoft.com/office/powerpoint/2010/main" val="163215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7F6730-8F76-4239-8CBA-B914B02A7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11E5CC-3C1F-4093-97B6-6433FBF9A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8D720AE-B07F-482D-B526-4A9C632DA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76F0BCA-E2AA-4AED-9091-1E820FF25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71D2B33-982E-4EC0-9252-B8A7383C96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250D86D-299E-4837-B82C-B97DACC97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4EFAF9-4DE5-4C1F-BF17-0A5930FFF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857D782-AB09-4CB1-A94A-54F935E709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4E95A3B-E29B-40AA-B9DD-FF0BA512F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A71F79C-8170-4729-A592-753969B849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AE5C556-02CA-4512-9F5F-7088484CF7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75FD132-C2ED-4807-B2DA-D428F9C44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1967F12-B0C4-4D31-8D63-89945DCD2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C5FDB0B-1B76-35C0-3CA2-8257ABEE4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59450"/>
          </a:xfrm>
        </p:spPr>
        <p:txBody>
          <a:bodyPr anchor="t">
            <a:normAutofit/>
          </a:bodyPr>
          <a:lstStyle/>
          <a:p>
            <a:r>
              <a:rPr lang="tr-TR" sz="5500">
                <a:ea typeface="+mj-lt"/>
                <a:cs typeface="+mj-lt"/>
              </a:rPr>
              <a:t>Statik Web'den Dinamik Web'e: "Sayfa Yenileme" Devrinin Sonu</a:t>
            </a:r>
            <a:endParaRPr lang="tr-TR" sz="5500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CED90EC3-3DAE-0274-9A03-47A1D2B5E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11894"/>
              </p:ext>
            </p:extLst>
          </p:nvPr>
        </p:nvGraphicFramePr>
        <p:xfrm>
          <a:off x="5232400" y="540000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7809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7F832D9-9E09-40D4-AD67-47851A25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FCF179D-9D21-B293-C8F3-CE72D413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</p:spPr>
        <p:txBody>
          <a:bodyPr anchor="t">
            <a:normAutofit/>
          </a:bodyPr>
          <a:lstStyle/>
          <a:p>
            <a:r>
              <a:rPr lang="tr-TR">
                <a:ea typeface="+mj-lt"/>
                <a:cs typeface="+mj-lt"/>
              </a:rPr>
              <a:t>JavaScript'in Yükselişi: Neden Framework?</a:t>
            </a:r>
            <a:endParaRPr lang="tr-TR"/>
          </a:p>
        </p:txBody>
      </p:sp>
      <p:graphicFrame>
        <p:nvGraphicFramePr>
          <p:cNvPr id="28" name="İçerik Yer Tutucusu 2">
            <a:extLst>
              <a:ext uri="{FF2B5EF4-FFF2-40B4-BE49-F238E27FC236}">
                <a16:creationId xmlns:a16="http://schemas.microsoft.com/office/drawing/2014/main" id="{E8E169A6-6D10-625A-57FF-4D50469C4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232907"/>
              </p:ext>
            </p:extLst>
          </p:nvPr>
        </p:nvGraphicFramePr>
        <p:xfrm>
          <a:off x="539750" y="2528888"/>
          <a:ext cx="11101388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71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4">
            <a:extLst>
              <a:ext uri="{FF2B5EF4-FFF2-40B4-BE49-F238E27FC236}">
                <a16:creationId xmlns:a16="http://schemas.microsoft.com/office/drawing/2014/main" id="{C0B89655-06C8-41C2-A46A-0CA83F8B8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6">
            <a:extLst>
              <a:ext uri="{FF2B5EF4-FFF2-40B4-BE49-F238E27FC236}">
                <a16:creationId xmlns:a16="http://schemas.microsoft.com/office/drawing/2014/main" id="{F647E4D5-C9B2-4EBE-B61C-8779B538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58" name="Rectangle 57">
              <a:extLst>
                <a:ext uri="{FF2B5EF4-FFF2-40B4-BE49-F238E27FC236}">
                  <a16:creationId xmlns:a16="http://schemas.microsoft.com/office/drawing/2014/main" id="{8EE79C2C-6A8F-4C04-93F4-E70E4E6EB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1D2E85C-8A74-4D69-9CE3-A4F5585D7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784F86B-F98F-4225-9238-BB254A94FA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67130A1-17AF-49F5-AE3A-AEB12135E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7697CF-3192-412A-922F-144889C50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9238514-DBDA-4E0D-901C-49A58D8E9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06C7DBB-1DE7-41D3-AD80-308DC0149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6FF20D1-2FA9-49A6-BA1A-312C85C44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25C80E8-283A-445C-9242-3D816C339D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F8E2446-B198-461A-A993-2DAA018E7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68">
            <a:extLst>
              <a:ext uri="{FF2B5EF4-FFF2-40B4-BE49-F238E27FC236}">
                <a16:creationId xmlns:a16="http://schemas.microsoft.com/office/drawing/2014/main" id="{2B76E018-D3DB-4222-BFF9-ADBDC9A0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A83A129-EEB4-304A-534B-E6FD5238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912725"/>
          </a:xfrm>
        </p:spPr>
        <p:txBody>
          <a:bodyPr anchor="t">
            <a:normAutofit/>
          </a:bodyPr>
          <a:lstStyle/>
          <a:p>
            <a:r>
              <a:rPr lang="tr-TR" sz="6800">
                <a:ea typeface="+mj-lt"/>
                <a:cs typeface="+mj-lt"/>
              </a:rPr>
              <a:t>Web Devriminin Motoru: Tarayıcılar ve AJAX</a:t>
            </a:r>
          </a:p>
        </p:txBody>
      </p:sp>
      <p:graphicFrame>
        <p:nvGraphicFramePr>
          <p:cNvPr id="70" name="İçerik Yer Tutucusu 6">
            <a:extLst>
              <a:ext uri="{FF2B5EF4-FFF2-40B4-BE49-F238E27FC236}">
                <a16:creationId xmlns:a16="http://schemas.microsoft.com/office/drawing/2014/main" id="{54F49933-7DB9-5F98-7C4A-FEBC798950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32400" y="545125"/>
          <a:ext cx="6408738" cy="5755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4342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8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4" name="Rectangle 40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56" name="Rectangle 42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44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2" name="Group 48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54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Rectangle 50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56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B2E88C2-D79B-10CC-3F8A-9A51AEA5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Bir Web site </a:t>
            </a:r>
            <a:r>
              <a:rPr lang="en-US" sz="4200" dirty="0" err="1"/>
              <a:t>sayfasının</a:t>
            </a:r>
            <a:r>
              <a:rPr lang="en-US" sz="4200" dirty="0"/>
              <a:t>  </a:t>
            </a:r>
            <a:r>
              <a:rPr lang="en-US" sz="4200" dirty="0" err="1"/>
              <a:t>tarayıcıdaki</a:t>
            </a:r>
            <a:r>
              <a:rPr lang="en-US" sz="4200" dirty="0"/>
              <a:t> DOM </a:t>
            </a:r>
            <a:r>
              <a:rPr lang="en-US" sz="4200" dirty="0" err="1"/>
              <a:t>yapısı</a:t>
            </a:r>
            <a:r>
              <a:rPr lang="en-US" sz="4200" dirty="0"/>
              <a:t>/</a:t>
            </a:r>
            <a:r>
              <a:rPr lang="en-US" sz="4200" dirty="0" err="1"/>
              <a:t>ağacı</a:t>
            </a:r>
          </a:p>
        </p:txBody>
      </p:sp>
      <p:pic>
        <p:nvPicPr>
          <p:cNvPr id="4" name="İçerik Yer Tutucusu 3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1A30183-AEAA-E2DA-1276-B8EFBDBFC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620"/>
          <a:stretch>
            <a:fillRect/>
          </a:stretch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3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0F55155-34E5-A444-0810-5BBC7F5B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59450"/>
          </a:xfrm>
        </p:spPr>
        <p:txBody>
          <a:bodyPr anchor="t">
            <a:normAutofit/>
          </a:bodyPr>
          <a:lstStyle/>
          <a:p>
            <a:r>
              <a:rPr lang="tr-TR" sz="6200">
                <a:ea typeface="+mj-lt"/>
                <a:cs typeface="+mj-lt"/>
              </a:rPr>
              <a:t>JavaScript'in Katkısı: "Yardımcı Araç"tan "Ana Aktör"e</a:t>
            </a:r>
            <a:endParaRPr lang="tr-TR" sz="6200"/>
          </a:p>
        </p:txBody>
      </p:sp>
      <p:graphicFrame>
        <p:nvGraphicFramePr>
          <p:cNvPr id="7" name="İçerik Yer Tutucusu 2">
            <a:extLst>
              <a:ext uri="{FF2B5EF4-FFF2-40B4-BE49-F238E27FC236}">
                <a16:creationId xmlns:a16="http://schemas.microsoft.com/office/drawing/2014/main" id="{D98A809A-C12E-37EE-E32B-E716E0444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134542"/>
              </p:ext>
            </p:extLst>
          </p:nvPr>
        </p:nvGraphicFramePr>
        <p:xfrm>
          <a:off x="5232400" y="540000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747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59CF68-BABE-4C2C-8CF4-65074F93B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E1D28A9-431E-4E55-ADE3-161D757A2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2CEE02A-6F09-45F4-B9A5-7C18CC77D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E8156EC-CE46-48E4-9D85-95D9D8BEB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B9DDD85-3F41-4B1D-9372-0773066B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1131344-09B5-4648-B3ED-C0DCDA592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83500BA-71FE-4DAF-BE27-C182514DC0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B5220F2-0C35-4C88-8E51-ECBD8A66D0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7B188C7-435E-43E1-92A9-8C3870670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B3992E9-AE5B-4001-81F2-F0257DA37E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A9B8F0F-31BC-431F-A85C-5BAA30B9F0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A5E54EA-3C4C-4DAB-9DD7-8ADFC0CC1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4D326E6-DCF1-49C2-A73B-F2163348A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76895B4-5A5A-9830-F220-F3776EBF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3768810"/>
            <a:ext cx="9217026" cy="17694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BÖLÜM </a:t>
            </a:r>
            <a:br>
              <a:rPr lang="en-US"/>
            </a:br>
            <a:r>
              <a:rPr lang="en-US"/>
              <a:t>2</a:t>
            </a:r>
          </a:p>
        </p:txBody>
      </p:sp>
      <p:pic>
        <p:nvPicPr>
          <p:cNvPr id="7" name="Graphic 6" descr="Kitaplar">
            <a:extLst>
              <a:ext uri="{FF2B5EF4-FFF2-40B4-BE49-F238E27FC236}">
                <a16:creationId xmlns:a16="http://schemas.microsoft.com/office/drawing/2014/main" id="{EE0BF59E-47AE-3FFF-95FB-47F2DE44B0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4680" y="549275"/>
            <a:ext cx="27717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80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651195D-A278-D83F-DD50-9544453C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0000"/>
            <a:ext cx="4554821" cy="2186096"/>
          </a:xfrm>
        </p:spPr>
        <p:txBody>
          <a:bodyPr anchor="b">
            <a:normAutofit/>
          </a:bodyPr>
          <a:lstStyle/>
          <a:p>
            <a:r>
              <a:rPr lang="tr-TR" sz="4700">
                <a:ea typeface="+mj-lt"/>
                <a:cs typeface="+mj-lt"/>
              </a:rPr>
              <a:t>Yazılım Mimari Tiplerinde Frontend'in Yeri</a:t>
            </a:r>
            <a:endParaRPr lang="tr-TR" sz="4700"/>
          </a:p>
        </p:txBody>
      </p:sp>
      <p:pic>
        <p:nvPicPr>
          <p:cNvPr id="26" name="Picture 25" descr="Duvardaki kutu tasarımı">
            <a:extLst>
              <a:ext uri="{FF2B5EF4-FFF2-40B4-BE49-F238E27FC236}">
                <a16:creationId xmlns:a16="http://schemas.microsoft.com/office/drawing/2014/main" id="{7040FC71-4D23-71B3-5222-A495E7A19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98" r="9936" b="-1"/>
          <a:stretch>
            <a:fillRect/>
          </a:stretch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06D4B7E-A06C-5865-BB1A-C6117ACD2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b="1" err="1">
                <a:ea typeface="+mn-lt"/>
                <a:cs typeface="+mn-lt"/>
              </a:rPr>
              <a:t>Monolith</a:t>
            </a:r>
            <a:r>
              <a:rPr lang="tr-TR" b="1">
                <a:ea typeface="+mn-lt"/>
                <a:cs typeface="+mn-lt"/>
              </a:rPr>
              <a:t> Mimari: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Frontend</a:t>
            </a:r>
            <a:r>
              <a:rPr lang="tr-TR">
                <a:ea typeface="+mn-lt"/>
                <a:cs typeface="+mn-lt"/>
              </a:rPr>
              <a:t> ve </a:t>
            </a:r>
            <a:r>
              <a:rPr lang="tr-TR" err="1">
                <a:ea typeface="+mn-lt"/>
                <a:cs typeface="+mn-lt"/>
              </a:rPr>
              <a:t>Backend'in</a:t>
            </a:r>
            <a:r>
              <a:rPr lang="tr-TR">
                <a:ea typeface="+mn-lt"/>
                <a:cs typeface="+mn-lt"/>
              </a:rPr>
              <a:t> tek bir "vücut" olduğu yapılar.</a:t>
            </a:r>
            <a:endParaRPr lang="tr-TR"/>
          </a:p>
          <a:p>
            <a:pPr marL="285750" indent="-285750">
              <a:buFont typeface="Arial"/>
            </a:pPr>
            <a:r>
              <a:rPr lang="tr-TR" b="1" err="1">
                <a:ea typeface="+mn-lt"/>
                <a:cs typeface="+mn-lt"/>
              </a:rPr>
              <a:t>Microservices</a:t>
            </a:r>
            <a:r>
              <a:rPr lang="tr-TR" b="1">
                <a:ea typeface="+mn-lt"/>
                <a:cs typeface="+mn-lt"/>
              </a:rPr>
              <a:t> Mimari: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Backend'in</a:t>
            </a:r>
            <a:r>
              <a:rPr lang="tr-TR">
                <a:ea typeface="+mn-lt"/>
                <a:cs typeface="+mn-lt"/>
              </a:rPr>
              <a:t> parçalandığı, </a:t>
            </a:r>
            <a:r>
              <a:rPr lang="tr-TR" err="1">
                <a:ea typeface="+mn-lt"/>
                <a:cs typeface="+mn-lt"/>
              </a:rPr>
              <a:t>Frontend'in</a:t>
            </a:r>
            <a:r>
              <a:rPr lang="tr-TR">
                <a:ea typeface="+mn-lt"/>
                <a:cs typeface="+mn-lt"/>
              </a:rPr>
              <a:t> API </a:t>
            </a:r>
            <a:r>
              <a:rPr lang="tr-TR" err="1">
                <a:ea typeface="+mn-lt"/>
                <a:cs typeface="+mn-lt"/>
              </a:rPr>
              <a:t>Gateway'ler</a:t>
            </a:r>
            <a:r>
              <a:rPr lang="tr-TR">
                <a:ea typeface="+mn-lt"/>
                <a:cs typeface="+mn-lt"/>
              </a:rPr>
              <a:t> üzerinden veriye ulaştığı yapılar.</a:t>
            </a:r>
          </a:p>
        </p:txBody>
      </p:sp>
    </p:spTree>
    <p:extLst>
      <p:ext uri="{BB962C8B-B14F-4D97-AF65-F5344CB8AC3E}">
        <p14:creationId xmlns:p14="http://schemas.microsoft.com/office/powerpoint/2010/main" val="384872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79473FC-410C-08D8-8611-C1EA336F8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19535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Monolith Mimari:</a:t>
            </a:r>
            <a:r>
              <a:rPr lang="en-US"/>
              <a:t>   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D972C12-3DAB-BF52-5DFC-0C473D96E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32400" y="540000"/>
            <a:ext cx="6408738" cy="199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70000">
              <a:buFont typeface="Arial" panose="020B0604020202020204" pitchFamily="34" charset="0"/>
              <a:buChar char="•"/>
            </a:pPr>
            <a:r>
              <a:rPr lang="en-US" sz="1800" spc="50"/>
              <a:t>Frontend ve Backend'in tek bir "vücut" olduğu yapılar.</a:t>
            </a:r>
          </a:p>
          <a:p>
            <a:pPr indent="-270000">
              <a:buFont typeface="Arial" panose="020B0604020202020204" pitchFamily="34" charset="0"/>
              <a:buChar char="•"/>
            </a:pPr>
            <a:endParaRPr lang="en-US" sz="1800" spc="50"/>
          </a:p>
        </p:txBody>
      </p:sp>
      <p:pic>
        <p:nvPicPr>
          <p:cNvPr id="5" name="İçerik Yer Tutucusu 4" descr="Introduction to Monolithic Architecture and MicroServices Architecture ...">
            <a:extLst>
              <a:ext uri="{FF2B5EF4-FFF2-40B4-BE49-F238E27FC236}">
                <a16:creationId xmlns:a16="http://schemas.microsoft.com/office/drawing/2014/main" id="{8707A36D-9EFD-ABBD-F50B-0CAF3EFE4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6070" y="2871846"/>
            <a:ext cx="8948994" cy="344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44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EB3670-0123-8D3F-89DE-B5D2DA77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5400" err="1">
                <a:ea typeface="+mj-lt"/>
                <a:cs typeface="+mj-lt"/>
              </a:rPr>
              <a:t>Microservices</a:t>
            </a:r>
            <a:r>
              <a:rPr lang="tr-TR" sz="5400" dirty="0">
                <a:ea typeface="+mj-lt"/>
                <a:cs typeface="+mj-lt"/>
              </a:rPr>
              <a:t> Mimari:</a:t>
            </a:r>
            <a:endParaRPr lang="tr-TR" sz="5400"/>
          </a:p>
        </p:txBody>
      </p:sp>
      <p:pic>
        <p:nvPicPr>
          <p:cNvPr id="5" name="İçerik Yer Tutucusu 4" descr="metin, ekran görüntüsü, diyagra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C2DEB3C-1437-C732-84E1-AF7846BEE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53807" y="1623429"/>
            <a:ext cx="6801642" cy="3609950"/>
          </a:xfrm>
          <a:prstGeom prst="rect">
            <a:avLst/>
          </a:prstGeo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827C337-53C0-AE78-AEE5-FB51A2045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>
                <a:ea typeface="+mn-lt"/>
                <a:cs typeface="+mn-lt"/>
              </a:rPr>
              <a:t>Backend'in</a:t>
            </a:r>
            <a:r>
              <a:rPr lang="tr-TR" dirty="0">
                <a:ea typeface="+mn-lt"/>
                <a:cs typeface="+mn-lt"/>
              </a:rPr>
              <a:t> parçalandığı, </a:t>
            </a:r>
            <a:r>
              <a:rPr lang="tr-TR" dirty="0" err="1">
                <a:ea typeface="+mn-lt"/>
                <a:cs typeface="+mn-lt"/>
              </a:rPr>
              <a:t>Frontend'in</a:t>
            </a:r>
            <a:r>
              <a:rPr lang="tr-TR" dirty="0">
                <a:ea typeface="+mn-lt"/>
                <a:cs typeface="+mn-lt"/>
              </a:rPr>
              <a:t> API </a:t>
            </a:r>
            <a:r>
              <a:rPr lang="tr-TR" dirty="0" err="1">
                <a:ea typeface="+mn-lt"/>
                <a:cs typeface="+mn-lt"/>
              </a:rPr>
              <a:t>Gateway'ler</a:t>
            </a:r>
            <a:r>
              <a:rPr lang="tr-TR" dirty="0">
                <a:ea typeface="+mn-lt"/>
                <a:cs typeface="+mn-lt"/>
              </a:rPr>
              <a:t> üzerinden veriye ulaştığı yapılar.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68598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3336D-044B-F740-E7E3-4B6987E0A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FF83C0C-1AEC-F930-D94E-1F28752FB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8BB609-200B-E7ED-0EEE-2D6A418A0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9660AC3-CA7C-4C96-5E4E-5E23AC40E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CC586F5-29E7-6DD2-2B61-5FBF407CD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65F6C94-0987-D1C5-D501-365E14B70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9618AD1-EBB0-9320-C99B-DCC7E1B157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DDDAAC0-3006-45E5-0565-CA76613159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1188E17-1880-6BCE-034C-56BC616E7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8223AE2-1EB0-F3B9-315C-D7B9510BB0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2AC2B98-CFCF-DB3F-A082-0EAB21B257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DC05D65-F92A-988D-A526-11A3C277A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9ADC00D-19A1-2C3D-EDD8-689CEDE5B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77DC4DC-6F19-5249-B9B9-FF5228205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FDF9936-6029-A8CF-17B4-0BF315AE0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3CB31CF-C5A6-2675-BA7F-4866D419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6B9EE45-F0F4-77A7-AFFA-C7BBD716D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2E39737-4A0E-1194-A93B-9687CF8D1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2324478-834C-2EA8-5D18-5EC01E5EB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FC36713-0B9B-2E37-1461-08D882FC70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3552036-5011-59A1-AB2F-24A8688442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4CBC179-5769-3501-4557-1573895F6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F7C2AEC-2E09-868B-D383-D410EA5E7B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2287A40-6E18-744D-DA49-90E33F5128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5982E5-CC16-8B9E-4EDA-46148E8C3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2333BD27-9D5E-B047-DC43-6141E790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839484A-2C82-78B1-5E69-F6CED9201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3768810"/>
            <a:ext cx="9217026" cy="17694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BÖLÜM </a:t>
            </a:r>
            <a:br>
              <a:rPr lang="en-US" dirty="0"/>
            </a:br>
            <a:r>
              <a:rPr lang="en-US" dirty="0"/>
              <a:t>3</a:t>
            </a:r>
          </a:p>
        </p:txBody>
      </p:sp>
      <p:pic>
        <p:nvPicPr>
          <p:cNvPr id="7" name="Graphic 6" descr="Kitaplar">
            <a:extLst>
              <a:ext uri="{FF2B5EF4-FFF2-40B4-BE49-F238E27FC236}">
                <a16:creationId xmlns:a16="http://schemas.microsoft.com/office/drawing/2014/main" id="{561DC4C1-BF04-D27C-D015-EAADAB1C10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4680" y="549275"/>
            <a:ext cx="27717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73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69" name="Freeform: Shape 68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B9E940F-1111-7FE8-E4B7-6D921E39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21819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Rendering Stratejileri 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FD5D5F7-829A-AD43-C782-6478DE191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2947121"/>
            <a:ext cx="4500562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69875">
              <a:buFont typeface="Arial" panose="020B0604020202020204" pitchFamily="34" charset="0"/>
              <a:buChar char="•"/>
            </a:pPr>
            <a:r>
              <a:rPr lang="en-US" sz="1800" b="1" spc="50" dirty="0"/>
              <a:t>Client-Side Rendering (CSR):</a:t>
            </a:r>
            <a:r>
              <a:rPr lang="en-US" sz="1800" spc="50" dirty="0"/>
              <a:t> </a:t>
            </a:r>
            <a:r>
              <a:rPr lang="en-US" sz="1800" spc="50" dirty="0" err="1"/>
              <a:t>Sunucu</a:t>
            </a:r>
            <a:r>
              <a:rPr lang="en-US" sz="1800" spc="50" dirty="0"/>
              <a:t> </a:t>
            </a:r>
            <a:r>
              <a:rPr lang="en-US" sz="1800" spc="50" dirty="0" err="1"/>
              <a:t>boş</a:t>
            </a:r>
            <a:r>
              <a:rPr lang="en-US" sz="1800" spc="50" dirty="0"/>
              <a:t> </a:t>
            </a:r>
            <a:r>
              <a:rPr lang="en-US" sz="1800" spc="50" dirty="0" err="1"/>
              <a:t>bir</a:t>
            </a:r>
            <a:r>
              <a:rPr lang="en-US" sz="1800" spc="50" dirty="0"/>
              <a:t> HTML </a:t>
            </a:r>
            <a:r>
              <a:rPr lang="en-US" sz="1800" spc="50" dirty="0" err="1"/>
              <a:t>ve</a:t>
            </a:r>
            <a:r>
              <a:rPr lang="en-US" sz="1800" spc="50" dirty="0"/>
              <a:t> </a:t>
            </a:r>
            <a:r>
              <a:rPr lang="en-US" sz="1800" spc="50" dirty="0" err="1"/>
              <a:t>büyük</a:t>
            </a:r>
            <a:r>
              <a:rPr lang="en-US" sz="1800" spc="50" dirty="0"/>
              <a:t> </a:t>
            </a:r>
            <a:r>
              <a:rPr lang="en-US" sz="1800" spc="50" dirty="0" err="1"/>
              <a:t>bir</a:t>
            </a:r>
            <a:r>
              <a:rPr lang="en-US" sz="1800" spc="50" dirty="0"/>
              <a:t> JavaScript </a:t>
            </a:r>
            <a:r>
              <a:rPr lang="en-US" sz="1800" spc="50" dirty="0" err="1"/>
              <a:t>paketi</a:t>
            </a:r>
            <a:r>
              <a:rPr lang="en-US" sz="1800" spc="50" dirty="0"/>
              <a:t> </a:t>
            </a:r>
            <a:r>
              <a:rPr lang="en-US" sz="1800" spc="50" dirty="0" err="1"/>
              <a:t>gönderir</a:t>
            </a:r>
            <a:r>
              <a:rPr lang="en-US" sz="1800" spc="50" dirty="0"/>
              <a:t>; </a:t>
            </a:r>
            <a:r>
              <a:rPr lang="en-US" sz="1800" spc="50" dirty="0" err="1"/>
              <a:t>sayfa</a:t>
            </a:r>
            <a:r>
              <a:rPr lang="en-US" sz="1800" spc="50" dirty="0"/>
              <a:t> </a:t>
            </a:r>
            <a:r>
              <a:rPr lang="en-US" sz="1800" spc="50" dirty="0" err="1"/>
              <a:t>kullanıcının</a:t>
            </a:r>
            <a:r>
              <a:rPr lang="en-US" sz="1800" spc="50" dirty="0"/>
              <a:t> </a:t>
            </a:r>
            <a:r>
              <a:rPr lang="en-US" sz="1800" spc="50" dirty="0" err="1"/>
              <a:t>tarayıcısında</a:t>
            </a:r>
            <a:r>
              <a:rPr lang="en-US" sz="1800" spc="50" dirty="0"/>
              <a:t> (Client) </a:t>
            </a:r>
            <a:r>
              <a:rPr lang="en-US" sz="1800" spc="50" dirty="0" err="1"/>
              <a:t>oluşturulur</a:t>
            </a:r>
            <a:r>
              <a:rPr lang="en-US" sz="1800" spc="50" dirty="0"/>
              <a:t>. </a:t>
            </a:r>
            <a:r>
              <a:rPr lang="en-US" sz="1800" spc="50" dirty="0" err="1"/>
              <a:t>İşlem</a:t>
            </a:r>
            <a:r>
              <a:rPr lang="en-US" sz="1800" spc="50" dirty="0"/>
              <a:t> </a:t>
            </a:r>
            <a:r>
              <a:rPr lang="en-US" sz="1800" spc="50" dirty="0" err="1"/>
              <a:t>yükü</a:t>
            </a:r>
            <a:r>
              <a:rPr lang="en-US" sz="1800" spc="50" dirty="0"/>
              <a:t> </a:t>
            </a:r>
            <a:r>
              <a:rPr lang="en-US" sz="1800" spc="50" dirty="0" err="1"/>
              <a:t>kullanıcıdadır</a:t>
            </a:r>
            <a:r>
              <a:rPr lang="en-US" sz="1800" spc="50" dirty="0"/>
              <a:t>.</a:t>
            </a:r>
            <a:endParaRPr lang="tr-TR" dirty="0"/>
          </a:p>
          <a:p>
            <a:pPr indent="-269875">
              <a:buFont typeface="Arial" panose="020B0604020202020204" pitchFamily="34" charset="0"/>
              <a:buChar char="•"/>
            </a:pPr>
            <a:r>
              <a:rPr lang="en-US" sz="1800" b="1" spc="50" dirty="0"/>
              <a:t>Server-Side Rendering (SSR):</a:t>
            </a:r>
            <a:r>
              <a:rPr lang="en-US" sz="1800" spc="50" dirty="0"/>
              <a:t> Her </a:t>
            </a:r>
            <a:r>
              <a:rPr lang="en-US" sz="1800" spc="50" dirty="0" err="1"/>
              <a:t>istekte</a:t>
            </a:r>
            <a:r>
              <a:rPr lang="en-US" sz="1800" spc="50" dirty="0"/>
              <a:t> </a:t>
            </a:r>
            <a:r>
              <a:rPr lang="en-US" sz="1800" spc="50" dirty="0" err="1"/>
              <a:t>sunucuda</a:t>
            </a:r>
            <a:r>
              <a:rPr lang="en-US" sz="1800" spc="50" dirty="0"/>
              <a:t> render </a:t>
            </a:r>
            <a:r>
              <a:rPr lang="en-US" sz="1800" spc="50" dirty="0" err="1"/>
              <a:t>edilir</a:t>
            </a:r>
            <a:r>
              <a:rPr lang="en-US" sz="1800" spc="50" dirty="0"/>
              <a:t> (</a:t>
            </a:r>
            <a:r>
              <a:rPr lang="en-US" sz="1800" spc="50" dirty="0" err="1"/>
              <a:t>Anlık</a:t>
            </a:r>
            <a:r>
              <a:rPr lang="en-US" sz="1800" spc="50" dirty="0"/>
              <a:t> </a:t>
            </a:r>
            <a:r>
              <a:rPr lang="en-US" sz="1800" spc="50" dirty="0" err="1"/>
              <a:t>veri</a:t>
            </a:r>
            <a:r>
              <a:rPr lang="en-US" sz="1800" spc="50" dirty="0"/>
              <a:t>).</a:t>
            </a:r>
          </a:p>
        </p:txBody>
      </p:sp>
      <p:pic>
        <p:nvPicPr>
          <p:cNvPr id="16" name="İçerik Yer Tutucusu 15" descr="React Is The New Flash: Why Boring Server-Side Rendering Is Winning ...">
            <a:extLst>
              <a:ext uri="{FF2B5EF4-FFF2-40B4-BE49-F238E27FC236}">
                <a16:creationId xmlns:a16="http://schemas.microsoft.com/office/drawing/2014/main" id="{93A8906A-2F36-B70A-8B08-556F95A8E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7673" y="1166397"/>
            <a:ext cx="6797551" cy="453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03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2C13C2-0C4E-E1E4-AEAA-605D422D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876585"/>
          </a:xfrm>
        </p:spPr>
        <p:txBody>
          <a:bodyPr>
            <a:normAutofit fontScale="90000"/>
          </a:bodyPr>
          <a:lstStyle/>
          <a:p>
            <a:r>
              <a:rPr lang="tr-TR" dirty="0">
                <a:ea typeface="+mj-lt"/>
                <a:cs typeface="+mj-lt"/>
              </a:rPr>
              <a:t>Client-Side </a:t>
            </a:r>
            <a:r>
              <a:rPr lang="tr-TR" dirty="0" err="1">
                <a:ea typeface="+mj-lt"/>
                <a:cs typeface="+mj-lt"/>
              </a:rPr>
              <a:t>Rendering</a:t>
            </a:r>
            <a:r>
              <a:rPr lang="tr-TR" dirty="0">
                <a:ea typeface="+mj-lt"/>
                <a:cs typeface="+mj-lt"/>
              </a:rPr>
              <a:t> (CSR)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47E4EB-51C0-E61C-1E2F-AE45A4937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74608"/>
            <a:ext cx="11101136" cy="473411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/>
            <a:r>
              <a:rPr lang="tr-TR" b="1" dirty="0"/>
              <a:t>✅ Avantajlar (Neden Tercih Edilir?)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Zengin Kullanıcı Deneyimi:</a:t>
            </a:r>
            <a:r>
              <a:rPr lang="tr-TR" dirty="0">
                <a:ea typeface="+mn-lt"/>
                <a:cs typeface="+mn-lt"/>
              </a:rPr>
              <a:t> Sayfa bir kez yüklendikten sonra, sayfalar arası geçişte yenilenme olmaz. Uygulama (Mobile </a:t>
            </a:r>
            <a:r>
              <a:rPr lang="tr-TR" dirty="0" err="1">
                <a:ea typeface="+mn-lt"/>
                <a:cs typeface="+mn-lt"/>
              </a:rPr>
              <a:t>App</a:t>
            </a:r>
            <a:r>
              <a:rPr lang="tr-TR" dirty="0">
                <a:ea typeface="+mn-lt"/>
                <a:cs typeface="+mn-lt"/>
              </a:rPr>
              <a:t>) hissi verir.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Düşük Sunucu Maliyeti:</a:t>
            </a:r>
            <a:r>
              <a:rPr lang="tr-TR" dirty="0">
                <a:ea typeface="+mn-lt"/>
                <a:cs typeface="+mn-lt"/>
              </a:rPr>
              <a:t> Sunucu sadece statik dosyaları (JS/CSS) gönderir. Sayfayı oluşturma (</a:t>
            </a:r>
            <a:r>
              <a:rPr lang="tr-TR" dirty="0" err="1">
                <a:ea typeface="+mn-lt"/>
                <a:cs typeface="+mn-lt"/>
              </a:rPr>
              <a:t>render</a:t>
            </a:r>
            <a:r>
              <a:rPr lang="tr-TR" dirty="0">
                <a:ea typeface="+mn-lt"/>
                <a:cs typeface="+mn-lt"/>
              </a:rPr>
              <a:t>) yükü kullanıcının işlemcisindedir.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Hızlı Etkileşim:</a:t>
            </a:r>
            <a:r>
              <a:rPr lang="tr-TR" dirty="0">
                <a:ea typeface="+mn-lt"/>
                <a:cs typeface="+mn-lt"/>
              </a:rPr>
              <a:t> İlk yüklemeden sonraki tüm işlemler (buton tıklamaları, filtrelemeler) tarayıcı hafızasında gerçekleştiği için anlıktır.</a:t>
            </a:r>
            <a:endParaRPr lang="tr-TR" dirty="0"/>
          </a:p>
          <a:p>
            <a:pPr marL="0" indent="0"/>
            <a:r>
              <a:rPr lang="tr-TR" b="1" dirty="0"/>
              <a:t>❌ Dezavantajlar (Neden Sorun Çıkartır?)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Zayıf SEO (Arama Motoru Optimizasyonu):</a:t>
            </a:r>
            <a:r>
              <a:rPr lang="tr-TR" dirty="0">
                <a:ea typeface="+mn-lt"/>
                <a:cs typeface="+mn-lt"/>
              </a:rPr>
              <a:t> Google botları sayfayı ziyaret ettiğinde sadece boş bir </a:t>
            </a:r>
            <a:r>
              <a:rPr lang="tr-TR" dirty="0">
                <a:latin typeface="Consolas"/>
              </a:rPr>
              <a:t>&lt;div id="</a:t>
            </a:r>
            <a:r>
              <a:rPr lang="tr-TR" dirty="0" err="1">
                <a:latin typeface="Consolas"/>
              </a:rPr>
              <a:t>root</a:t>
            </a:r>
            <a:r>
              <a:rPr lang="tr-TR" dirty="0">
                <a:latin typeface="Consolas"/>
              </a:rPr>
              <a:t>"&gt;&lt;/div&gt;</a:t>
            </a:r>
            <a:r>
              <a:rPr lang="tr-TR" dirty="0">
                <a:ea typeface="+mn-lt"/>
                <a:cs typeface="+mn-lt"/>
              </a:rPr>
              <a:t> görür. </a:t>
            </a:r>
            <a:r>
              <a:rPr lang="tr-TR" dirty="0" err="1">
                <a:ea typeface="+mn-lt"/>
                <a:cs typeface="+mn-lt"/>
              </a:rPr>
              <a:t>JS'in</a:t>
            </a:r>
            <a:r>
              <a:rPr lang="tr-TR" dirty="0">
                <a:ea typeface="+mn-lt"/>
                <a:cs typeface="+mn-lt"/>
              </a:rPr>
              <a:t> çalışıp içeriği doldurmasını beklemeyebilirler.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"İlk Boyama" (First Paint) Süresi:</a:t>
            </a:r>
            <a:r>
              <a:rPr lang="tr-TR" dirty="0">
                <a:ea typeface="+mn-lt"/>
                <a:cs typeface="+mn-lt"/>
              </a:rPr>
              <a:t> Kullanıcı devasa JavaScript dosyasını indirene kadar beyaz bir ekrana bakar. İnterneti yavaş olan kullanıcılar için can sıkıcıdır.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Donanım Bağımlılığı:</a:t>
            </a:r>
            <a:r>
              <a:rPr lang="tr-TR" dirty="0">
                <a:ea typeface="+mn-lt"/>
                <a:cs typeface="+mn-lt"/>
              </a:rPr>
              <a:t> Sayfayı oluşturma yükü kullanıcıda olduğu için, düşük donanımlı eski telefonlarda veya bilgisayarlarda uygulama kasılabilir.</a:t>
            </a:r>
            <a:endParaRPr lang="tr-TR" dirty="0"/>
          </a:p>
          <a:p>
            <a:pPr marL="269875" indent="-269875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10527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1D3076-9759-333C-7AD9-2258767E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840977"/>
          </a:xfrm>
        </p:spPr>
        <p:txBody>
          <a:bodyPr>
            <a:normAutofit fontScale="90000"/>
          </a:bodyPr>
          <a:lstStyle/>
          <a:p>
            <a:r>
              <a:rPr lang="tr-TR" dirty="0">
                <a:ea typeface="+mj-lt"/>
                <a:cs typeface="+mj-lt"/>
              </a:rPr>
              <a:t>Server-Side </a:t>
            </a:r>
            <a:r>
              <a:rPr lang="tr-TR" dirty="0" err="1">
                <a:ea typeface="+mj-lt"/>
                <a:cs typeface="+mj-lt"/>
              </a:rPr>
              <a:t>Rendering</a:t>
            </a:r>
            <a:r>
              <a:rPr lang="tr-TR" dirty="0">
                <a:ea typeface="+mj-lt"/>
                <a:cs typeface="+mj-lt"/>
              </a:rPr>
              <a:t> (SSR)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D48F05A-F167-E79E-3EDA-7EFFA53B7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89448"/>
            <a:ext cx="11101136" cy="491927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/>
            <a:r>
              <a:rPr lang="tr-TR" b="1" dirty="0"/>
              <a:t>✅ Avantajlar (Neden SSR Kullanıyoruz?)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Mükemmel SEO Performansı:</a:t>
            </a:r>
            <a:r>
              <a:rPr lang="tr-TR" dirty="0">
                <a:ea typeface="+mn-lt"/>
                <a:cs typeface="+mn-lt"/>
              </a:rPr>
              <a:t> Google botları sayfaya geldiğinde, JavaScript'in çalışmasını beklemeden içeriği dolu bir HTML bulur. Bu da arama sonuçlarında üst sıralara çıkmayı sağlar.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Hızlı "İlk Anlamlı Boyama" (FMP):</a:t>
            </a:r>
            <a:r>
              <a:rPr lang="tr-TR" dirty="0">
                <a:ea typeface="+mn-lt"/>
                <a:cs typeface="+mn-lt"/>
              </a:rPr>
              <a:t> Kullanıcı sayfayı açtığı anda içeriği görür. "Beyaz ekran" bekleme süresi minimumdur çünkü HTML sunucuda çoktan oluşturulmuştur.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Sosyal Medya Paylaşımları:</a:t>
            </a:r>
            <a:r>
              <a:rPr lang="tr-TR" dirty="0">
                <a:ea typeface="+mn-lt"/>
                <a:cs typeface="+mn-lt"/>
              </a:rPr>
              <a:t> Sayfa linki WhatsApp veya Twitter'da paylaşıldığında, sayfa başlığı ve görseli (Metadata) anında </a:t>
            </a:r>
            <a:r>
              <a:rPr lang="tr-TR" dirty="0" err="1">
                <a:ea typeface="+mn-lt"/>
                <a:cs typeface="+mn-lt"/>
              </a:rPr>
              <a:t>önizleme</a:t>
            </a:r>
            <a:r>
              <a:rPr lang="tr-TR" dirty="0">
                <a:ea typeface="+mn-lt"/>
                <a:cs typeface="+mn-lt"/>
              </a:rPr>
              <a:t> olarak görünür.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Güvenli Veri Erişimi: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Veritabanı</a:t>
            </a:r>
            <a:r>
              <a:rPr lang="tr-TR" dirty="0">
                <a:ea typeface="+mn-lt"/>
                <a:cs typeface="+mn-lt"/>
              </a:rPr>
              <a:t> sorguları ve gizli API anahtarları tarayıcıya uğramadan, doğrudan sunucuda işlenir.</a:t>
            </a:r>
            <a:endParaRPr lang="tr-TR" dirty="0"/>
          </a:p>
          <a:p>
            <a:pPr marL="0" indent="0"/>
            <a:r>
              <a:rPr lang="tr-TR" b="1" dirty="0"/>
              <a:t>❌ Dezavantajlar (Zorlukları Neler?)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Sunucu Yükü:</a:t>
            </a:r>
            <a:r>
              <a:rPr lang="tr-TR" dirty="0">
                <a:ea typeface="+mn-lt"/>
                <a:cs typeface="+mn-lt"/>
              </a:rPr>
              <a:t> Her kullanıcı isteğinde sunucu sayfayı baştan "pişirmek" zorundadır. Çok yoğun trafik alan sitelerde sunucu maliyetini artırabilir.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TTFB (Time </a:t>
            </a:r>
            <a:r>
              <a:rPr lang="tr-TR" b="1" dirty="0" err="1">
                <a:ea typeface="+mn-lt"/>
                <a:cs typeface="+mn-lt"/>
              </a:rPr>
              <a:t>to</a:t>
            </a:r>
            <a:r>
              <a:rPr lang="tr-TR" b="1" dirty="0">
                <a:ea typeface="+mn-lt"/>
                <a:cs typeface="+mn-lt"/>
              </a:rPr>
              <a:t> First Byte):</a:t>
            </a:r>
            <a:r>
              <a:rPr lang="tr-TR" dirty="0">
                <a:ea typeface="+mn-lt"/>
                <a:cs typeface="+mn-lt"/>
              </a:rPr>
              <a:t> Sunucu veriyi çekip sayfayı oluştururken geçen sürede, tarayıcı ilk yanıtı alana kadar kısa bir süre bekler.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Daha Karmaşık Geliştirme:</a:t>
            </a:r>
            <a:r>
              <a:rPr lang="tr-TR" dirty="0">
                <a:ea typeface="+mn-lt"/>
                <a:cs typeface="+mn-lt"/>
              </a:rPr>
              <a:t> Kodunuzun hem sunucu hem de tarayıcı ortamında nasıl davranacağını bilmeniz gerekir (</a:t>
            </a:r>
            <a:r>
              <a:rPr lang="tr-TR" dirty="0" err="1">
                <a:ea typeface="+mn-lt"/>
                <a:cs typeface="+mn-lt"/>
              </a:rPr>
              <a:t>Örn</a:t>
            </a:r>
            <a:r>
              <a:rPr lang="tr-TR" dirty="0">
                <a:ea typeface="+mn-lt"/>
                <a:cs typeface="+mn-lt"/>
              </a:rPr>
              <a:t>: Sunucu tarafında </a:t>
            </a:r>
            <a:r>
              <a:rPr lang="tr-TR" dirty="0" err="1">
                <a:latin typeface="Consolas"/>
              </a:rPr>
              <a:t>window</a:t>
            </a:r>
            <a:r>
              <a:rPr lang="tr-TR" dirty="0">
                <a:ea typeface="+mn-lt"/>
                <a:cs typeface="+mn-lt"/>
              </a:rPr>
              <a:t> veya </a:t>
            </a:r>
            <a:r>
              <a:rPr lang="tr-TR" dirty="0" err="1">
                <a:latin typeface="Consolas"/>
              </a:rPr>
              <a:t>document</a:t>
            </a:r>
            <a:r>
              <a:rPr lang="tr-TR" dirty="0">
                <a:ea typeface="+mn-lt"/>
                <a:cs typeface="+mn-lt"/>
              </a:rPr>
              <a:t> nesneleri yoktur).</a:t>
            </a:r>
            <a:endParaRPr lang="tr-TR" dirty="0"/>
          </a:p>
          <a:p>
            <a:pPr marL="269875" indent="-269875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1646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5974B-6257-DD11-0F5E-00C6BE86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FA1028F-DFF9-0A0D-C212-93AAC72E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7CED3A-5CE0-B0E3-74FD-F3C4B3E0D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FAB828C-D491-BBD8-A0B3-C6B7B7AEE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895010-C179-181F-7CFB-776595CCF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8FF1F35-B855-D32C-B084-7DB43A8DE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8E44222-88F2-2EBF-2F7E-AEE15BEAC3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E2BFD2-75C3-C876-7AB2-5FB045E1ED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F707C5A-E69D-E4C3-068C-67DFB88B6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6C5FA82-A26E-1E81-B2BB-086F713915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9E9AEC8-9AE1-AF39-0E5C-96269BB12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434186-D892-AD20-B4AC-F535AD56E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2F048E3-D6E8-2802-FAF9-EA4A3382B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FA99E92-4CDC-B1BB-27F9-3F602D637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F497C0-9949-0DEB-0B5C-41919D345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14A0692-2488-40D1-7338-D0F8013E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73E8247-E773-982E-AEE3-F10AA6208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4885F59-DC6E-A310-2B26-946A83AE1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1F803F3-B565-1E7F-F771-BE5FED05D6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A341A79-FD7E-55B0-AAF1-51D8391454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E608D0F-20A0-8B1B-5D18-87425EF941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760D5E9-9A27-C24B-2D8D-2105CC2AE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A00196D-C117-2342-8E1C-555F00C766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5089B6A-1EFB-EDEC-EBC6-7899E396C0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C7B68CB-9BAC-147E-607A-BEBC6AC45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8F46F2B-13F8-488F-46BC-7C7E9B88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BCBC1C5-65CE-F7DF-8023-543883490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3768810"/>
            <a:ext cx="9217026" cy="17694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BÖLÜM </a:t>
            </a:r>
            <a:br>
              <a:rPr lang="en-US" dirty="0"/>
            </a:br>
            <a:r>
              <a:rPr lang="en-US" dirty="0"/>
              <a:t>4</a:t>
            </a:r>
          </a:p>
        </p:txBody>
      </p:sp>
      <p:pic>
        <p:nvPicPr>
          <p:cNvPr id="7" name="Graphic 6" descr="Kitaplar">
            <a:extLst>
              <a:ext uri="{FF2B5EF4-FFF2-40B4-BE49-F238E27FC236}">
                <a16:creationId xmlns:a16="http://schemas.microsoft.com/office/drawing/2014/main" id="{503903EA-41D4-0102-280A-91626B69C7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4680" y="549275"/>
            <a:ext cx="27717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56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49DDDD-C894-DC09-AF43-FCCE17C7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+mj-lt"/>
                <a:cs typeface="+mj-lt"/>
              </a:rPr>
              <a:t>Next.js: </a:t>
            </a:r>
            <a:r>
              <a:rPr lang="tr-TR" dirty="0" err="1">
                <a:ea typeface="+mj-lt"/>
                <a:cs typeface="+mj-lt"/>
              </a:rPr>
              <a:t>React'in</a:t>
            </a:r>
            <a:r>
              <a:rPr lang="tr-TR" dirty="0">
                <a:ea typeface="+mj-lt"/>
                <a:cs typeface="+mj-lt"/>
              </a:rPr>
              <a:t> Üzerindeki Güç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F0E296-2A31-88E1-7451-D02460A75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tr-TR" dirty="0">
                <a:ea typeface="+mn-lt"/>
                <a:cs typeface="+mn-lt"/>
              </a:rPr>
              <a:t>Bileşen Tabanlı (Component-</a:t>
            </a:r>
            <a:r>
              <a:rPr lang="tr-TR" dirty="0" err="1">
                <a:ea typeface="+mn-lt"/>
                <a:cs typeface="+mn-lt"/>
              </a:rPr>
              <a:t>Based</a:t>
            </a:r>
            <a:r>
              <a:rPr lang="tr-TR" dirty="0">
                <a:ea typeface="+mn-lt"/>
                <a:cs typeface="+mn-lt"/>
              </a:rPr>
              <a:t>) Mimari </a:t>
            </a:r>
          </a:p>
          <a:p>
            <a:pPr marL="269875" indent="-269875"/>
            <a:r>
              <a:rPr lang="tr-TR" dirty="0" err="1">
                <a:ea typeface="+mn-lt"/>
                <a:cs typeface="+mn-lt"/>
              </a:rPr>
              <a:t>App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Router</a:t>
            </a:r>
            <a:r>
              <a:rPr lang="tr-TR" dirty="0">
                <a:ea typeface="+mn-lt"/>
                <a:cs typeface="+mn-lt"/>
              </a:rPr>
              <a:t>: Yeni Nesil Sayfa Yönlendirme</a:t>
            </a:r>
          </a:p>
          <a:p>
            <a:pPr marL="269875" indent="-269875"/>
            <a:r>
              <a:rPr lang="tr-TR" dirty="0">
                <a:ea typeface="+mn-lt"/>
                <a:cs typeface="+mn-lt"/>
              </a:rPr>
              <a:t>Çalışma Alanı: Client vs. Server</a:t>
            </a:r>
            <a:endParaRPr lang="tr-TR" dirty="0"/>
          </a:p>
          <a:p>
            <a:pPr marL="269875" indent="-269875"/>
            <a:r>
              <a:rPr lang="tr-TR" dirty="0">
                <a:ea typeface="+mn-lt"/>
                <a:cs typeface="+mn-lt"/>
              </a:rPr>
              <a:t>Güvenlik Duvarı (Server-Side </a:t>
            </a:r>
            <a:r>
              <a:rPr lang="tr-TR" dirty="0" err="1">
                <a:ea typeface="+mn-lt"/>
                <a:cs typeface="+mn-lt"/>
              </a:rPr>
              <a:t>Isolation</a:t>
            </a:r>
            <a:r>
              <a:rPr lang="tr-TR" dirty="0">
                <a:ea typeface="+mn-lt"/>
                <a:cs typeface="+mn-lt"/>
              </a:rPr>
              <a:t>)</a:t>
            </a:r>
          </a:p>
          <a:p>
            <a:pPr marL="269875" indent="-269875"/>
            <a:r>
              <a:rPr lang="tr-TR" dirty="0">
                <a:ea typeface="+mn-lt"/>
                <a:cs typeface="+mn-lt"/>
              </a:rPr>
              <a:t>Server-Side </a:t>
            </a:r>
            <a:r>
              <a:rPr lang="tr-TR" dirty="0" err="1">
                <a:ea typeface="+mn-lt"/>
                <a:cs typeface="+mn-lt"/>
              </a:rPr>
              <a:t>Rendering</a:t>
            </a:r>
            <a:r>
              <a:rPr lang="tr-TR" dirty="0">
                <a:ea typeface="+mn-lt"/>
                <a:cs typeface="+mn-lt"/>
              </a:rPr>
              <a:t> (SSR) ve Akıllı </a:t>
            </a:r>
            <a:r>
              <a:rPr lang="tr-TR" dirty="0" err="1">
                <a:ea typeface="+mn-lt"/>
                <a:cs typeface="+mn-lt"/>
              </a:rPr>
              <a:t>Cache</a:t>
            </a:r>
            <a:endParaRPr lang="tr-TR" dirty="0">
              <a:ea typeface="+mn-lt"/>
              <a:cs typeface="+mn-lt"/>
            </a:endParaRPr>
          </a:p>
          <a:p>
            <a:pPr marL="269875" indent="-269875"/>
            <a:r>
              <a:rPr lang="tr-TR" dirty="0" err="1">
                <a:ea typeface="+mn-lt"/>
                <a:cs typeface="+mn-lt"/>
              </a:rPr>
              <a:t>Static</a:t>
            </a:r>
            <a:r>
              <a:rPr lang="tr-TR" dirty="0">
                <a:ea typeface="+mn-lt"/>
                <a:cs typeface="+mn-lt"/>
              </a:rPr>
              <a:t> Site </a:t>
            </a:r>
            <a:r>
              <a:rPr lang="tr-TR" dirty="0" err="1">
                <a:ea typeface="+mn-lt"/>
                <a:cs typeface="+mn-lt"/>
              </a:rPr>
              <a:t>Generation</a:t>
            </a:r>
            <a:r>
              <a:rPr lang="tr-TR" dirty="0">
                <a:ea typeface="+mn-lt"/>
                <a:cs typeface="+mn-lt"/>
              </a:rPr>
              <a:t> (SSG)</a:t>
            </a:r>
          </a:p>
          <a:p>
            <a:pPr marL="269875" indent="-269875"/>
            <a:r>
              <a:rPr lang="tr-TR" dirty="0" err="1">
                <a:ea typeface="+mn-lt"/>
                <a:cs typeface="+mn-lt"/>
              </a:rPr>
              <a:t>Incremental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Static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Regeneration</a:t>
            </a:r>
            <a:r>
              <a:rPr lang="tr-TR" dirty="0">
                <a:ea typeface="+mn-lt"/>
                <a:cs typeface="+mn-lt"/>
              </a:rPr>
              <a:t> (ISR)</a:t>
            </a:r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3182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A9CD3E6-968F-41B1-B6FA-C6FD9B72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5774609-9D59-BE97-8610-DB5484D85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1953501"/>
          </a:xfrm>
        </p:spPr>
        <p:txBody>
          <a:bodyPr anchor="t">
            <a:normAutofit/>
          </a:bodyPr>
          <a:lstStyle/>
          <a:p>
            <a:r>
              <a:rPr lang="tr-TR" sz="4200">
                <a:ea typeface="+mj-lt"/>
                <a:cs typeface="+mj-lt"/>
              </a:rPr>
              <a:t>Bileşen Tabanlı (Component-Based) Mimari</a:t>
            </a:r>
            <a:endParaRPr lang="tr-TR" sz="42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F9B011-1745-7439-C46B-F2F4461E5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8" cy="57687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lnSpc>
                <a:spcPct val="115000"/>
              </a:lnSpc>
              <a:buNone/>
            </a:pPr>
            <a:r>
              <a:rPr lang="tr-TR" sz="1500" b="1"/>
              <a:t>.      "Lego" Yaklaşımı: UI Parçalara Bölmek</a:t>
            </a:r>
            <a:endParaRPr lang="tr-TR" sz="1500"/>
          </a:p>
          <a:p>
            <a:pPr marL="742950" lvl="1" indent="-285750">
              <a:lnSpc>
                <a:spcPct val="115000"/>
              </a:lnSpc>
              <a:buFont typeface="Courier New"/>
              <a:buChar char="o"/>
            </a:pPr>
            <a:r>
              <a:rPr lang="tr-TR" sz="1500" b="1">
                <a:ea typeface="+mn-lt"/>
                <a:cs typeface="+mn-lt"/>
              </a:rPr>
              <a:t>Nedir?:</a:t>
            </a:r>
            <a:r>
              <a:rPr lang="tr-TR" sz="1500">
                <a:ea typeface="+mn-lt"/>
                <a:cs typeface="+mn-lt"/>
              </a:rPr>
              <a:t> Web arayüzünü dev bir blok yerine; </a:t>
            </a:r>
            <a:r>
              <a:rPr lang="tr-TR" sz="1500" err="1">
                <a:latin typeface="Consolas"/>
                <a:ea typeface="+mn-lt"/>
                <a:cs typeface="+mn-lt"/>
              </a:rPr>
              <a:t>Button</a:t>
            </a:r>
            <a:r>
              <a:rPr lang="tr-TR" sz="1500">
                <a:ea typeface="+mn-lt"/>
                <a:cs typeface="+mn-lt"/>
              </a:rPr>
              <a:t>, </a:t>
            </a:r>
            <a:r>
              <a:rPr lang="tr-TR" sz="1500" err="1">
                <a:latin typeface="Consolas"/>
                <a:ea typeface="+mn-lt"/>
                <a:cs typeface="+mn-lt"/>
              </a:rPr>
              <a:t>Navbar</a:t>
            </a:r>
            <a:r>
              <a:rPr lang="tr-TR" sz="1500">
                <a:ea typeface="+mn-lt"/>
                <a:cs typeface="+mn-lt"/>
              </a:rPr>
              <a:t>, </a:t>
            </a:r>
            <a:r>
              <a:rPr lang="tr-TR" sz="1500" err="1">
                <a:latin typeface="Consolas"/>
                <a:ea typeface="+mn-lt"/>
                <a:cs typeface="+mn-lt"/>
              </a:rPr>
              <a:t>Card</a:t>
            </a:r>
            <a:r>
              <a:rPr lang="tr-TR" sz="1500">
                <a:ea typeface="+mn-lt"/>
                <a:cs typeface="+mn-lt"/>
              </a:rPr>
              <a:t> gibi bağımsız ve tekrar kullanılabilir parçalara ayırmak.</a:t>
            </a:r>
          </a:p>
          <a:p>
            <a:pPr marL="742950" lvl="1" indent="-285750">
              <a:lnSpc>
                <a:spcPct val="115000"/>
              </a:lnSpc>
              <a:buFont typeface="Courier New"/>
              <a:buChar char="o"/>
            </a:pPr>
            <a:r>
              <a:rPr lang="tr-TR" sz="1500" b="1">
                <a:ea typeface="+mn-lt"/>
                <a:cs typeface="+mn-lt"/>
              </a:rPr>
              <a:t>Bağımsızlık:</a:t>
            </a:r>
            <a:r>
              <a:rPr lang="tr-TR" sz="1500">
                <a:ea typeface="+mn-lt"/>
                <a:cs typeface="+mn-lt"/>
              </a:rPr>
              <a:t> Her bileşenin kendi tasarımı (CSS), mantığı (JS) ve yapısı (HTML) kendi içindedir.</a:t>
            </a:r>
          </a:p>
          <a:p>
            <a:pPr marL="742950" lvl="1" indent="-285750">
              <a:lnSpc>
                <a:spcPct val="115000"/>
              </a:lnSpc>
              <a:buFont typeface="Courier New"/>
              <a:buChar char="o"/>
            </a:pPr>
            <a:r>
              <a:rPr lang="tr-TR" sz="1500" b="1">
                <a:ea typeface="+mn-lt"/>
                <a:cs typeface="+mn-lt"/>
              </a:rPr>
              <a:t>Yeniden Kullanılabilirlik:</a:t>
            </a:r>
            <a:r>
              <a:rPr lang="tr-TR" sz="1500">
                <a:ea typeface="+mn-lt"/>
                <a:cs typeface="+mn-lt"/>
              </a:rPr>
              <a:t> Bir kez yazılan bir </a:t>
            </a:r>
            <a:r>
              <a:rPr lang="tr-TR" sz="1500" err="1">
                <a:latin typeface="Consolas"/>
                <a:ea typeface="+mn-lt"/>
                <a:cs typeface="+mn-lt"/>
              </a:rPr>
              <a:t>ProductCard</a:t>
            </a:r>
            <a:r>
              <a:rPr lang="tr-TR" sz="1500">
                <a:ea typeface="+mn-lt"/>
                <a:cs typeface="+mn-lt"/>
              </a:rPr>
              <a:t> bileşeni, tüm e-ticaret sitesinde farklı verilerle binlerce kez kullanılabilir.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tr-TR" sz="1500" b="1"/>
              <a:t> Reaktivite ve Veri Akışı (</a:t>
            </a:r>
            <a:r>
              <a:rPr lang="tr-TR" sz="1500" b="1" err="1"/>
              <a:t>Props</a:t>
            </a:r>
            <a:r>
              <a:rPr lang="tr-TR" sz="1500" b="1"/>
              <a:t> &amp; </a:t>
            </a:r>
            <a:r>
              <a:rPr lang="tr-TR" sz="1500" b="1" err="1"/>
              <a:t>State</a:t>
            </a:r>
            <a:r>
              <a:rPr lang="tr-TR" sz="1500" b="1"/>
              <a:t>)</a:t>
            </a:r>
            <a:endParaRPr lang="tr-TR" sz="1500"/>
          </a:p>
          <a:p>
            <a:pPr marL="742950" lvl="1" indent="-285750">
              <a:lnSpc>
                <a:spcPct val="115000"/>
              </a:lnSpc>
              <a:buFont typeface="Courier New"/>
              <a:buChar char="o"/>
            </a:pPr>
            <a:r>
              <a:rPr lang="tr-TR" sz="1500" b="1" err="1">
                <a:ea typeface="+mn-lt"/>
                <a:cs typeface="+mn-lt"/>
              </a:rPr>
              <a:t>Props</a:t>
            </a:r>
            <a:r>
              <a:rPr lang="tr-TR" sz="1500" b="1">
                <a:ea typeface="+mn-lt"/>
                <a:cs typeface="+mn-lt"/>
              </a:rPr>
              <a:t> (Özellikler):</a:t>
            </a:r>
            <a:r>
              <a:rPr lang="tr-TR" sz="1500">
                <a:ea typeface="+mn-lt"/>
                <a:cs typeface="+mn-lt"/>
              </a:rPr>
              <a:t> Üst bileşenden alt bileşene gönderilen verilerdir. (</a:t>
            </a:r>
            <a:r>
              <a:rPr lang="tr-TR" sz="1500" err="1">
                <a:ea typeface="+mn-lt"/>
                <a:cs typeface="+mn-lt"/>
              </a:rPr>
              <a:t>Örn</a:t>
            </a:r>
            <a:r>
              <a:rPr lang="tr-TR" sz="1500">
                <a:ea typeface="+mn-lt"/>
                <a:cs typeface="+mn-lt"/>
              </a:rPr>
              <a:t>: Bir butona "Kırmızı ol" veya "Sepete Ekle yaz" demek).</a:t>
            </a:r>
            <a:endParaRPr lang="tr-TR" sz="1500"/>
          </a:p>
          <a:p>
            <a:pPr marL="742950" lvl="1" indent="-285750">
              <a:lnSpc>
                <a:spcPct val="115000"/>
              </a:lnSpc>
              <a:buFont typeface="Courier New"/>
              <a:buChar char="o"/>
            </a:pPr>
            <a:r>
              <a:rPr lang="tr-TR" sz="1500" b="1" err="1">
                <a:ea typeface="+mn-lt"/>
                <a:cs typeface="+mn-lt"/>
              </a:rPr>
              <a:t>State</a:t>
            </a:r>
            <a:r>
              <a:rPr lang="tr-TR" sz="1500" b="1">
                <a:ea typeface="+mn-lt"/>
                <a:cs typeface="+mn-lt"/>
              </a:rPr>
              <a:t> (Durum):</a:t>
            </a:r>
            <a:r>
              <a:rPr lang="tr-TR" sz="1500">
                <a:ea typeface="+mn-lt"/>
                <a:cs typeface="+mn-lt"/>
              </a:rPr>
              <a:t> Bileşenin kendi iç hafızasıdır. (</a:t>
            </a:r>
            <a:r>
              <a:rPr lang="tr-TR" sz="1500" err="1">
                <a:ea typeface="+mn-lt"/>
                <a:cs typeface="+mn-lt"/>
              </a:rPr>
              <a:t>Örn</a:t>
            </a:r>
            <a:r>
              <a:rPr lang="tr-TR" sz="1500">
                <a:ea typeface="+mn-lt"/>
                <a:cs typeface="+mn-lt"/>
              </a:rPr>
              <a:t>: "Bu butona tıklandı mı?", "</a:t>
            </a:r>
            <a:r>
              <a:rPr lang="tr-TR" sz="1500" err="1">
                <a:ea typeface="+mn-lt"/>
                <a:cs typeface="+mn-lt"/>
              </a:rPr>
              <a:t>Input'a</a:t>
            </a:r>
            <a:r>
              <a:rPr lang="tr-TR" sz="1500">
                <a:ea typeface="+mn-lt"/>
                <a:cs typeface="+mn-lt"/>
              </a:rPr>
              <a:t> ne yazıldı?").</a:t>
            </a:r>
            <a:endParaRPr lang="tr-TR" sz="1500"/>
          </a:p>
          <a:p>
            <a:pPr marL="742950" lvl="1" indent="-285750">
              <a:lnSpc>
                <a:spcPct val="115000"/>
              </a:lnSpc>
              <a:buFont typeface="Courier New"/>
              <a:buChar char="o"/>
            </a:pPr>
            <a:r>
              <a:rPr lang="tr-TR" sz="1500" b="1">
                <a:ea typeface="+mn-lt"/>
                <a:cs typeface="+mn-lt"/>
              </a:rPr>
              <a:t>Tek Yönlü Veri Akışı:</a:t>
            </a:r>
            <a:r>
              <a:rPr lang="tr-TR" sz="1500">
                <a:ea typeface="+mn-lt"/>
                <a:cs typeface="+mn-lt"/>
              </a:rPr>
              <a:t> Veri her zaman yukarıdan aşağıya (</a:t>
            </a:r>
            <a:r>
              <a:rPr lang="tr-TR" sz="1500" err="1">
                <a:ea typeface="+mn-lt"/>
                <a:cs typeface="+mn-lt"/>
              </a:rPr>
              <a:t>Parent</a:t>
            </a:r>
            <a:r>
              <a:rPr lang="tr-TR" sz="1500">
                <a:ea typeface="+mn-lt"/>
                <a:cs typeface="+mn-lt"/>
              </a:rPr>
              <a:t> </a:t>
            </a:r>
            <a:r>
              <a:rPr lang="tr-TR" sz="1500" err="1">
                <a:ea typeface="+mn-lt"/>
                <a:cs typeface="+mn-lt"/>
              </a:rPr>
              <a:t>to</a:t>
            </a:r>
            <a:r>
              <a:rPr lang="tr-TR" sz="1500">
                <a:ea typeface="+mn-lt"/>
                <a:cs typeface="+mn-lt"/>
              </a:rPr>
              <a:t> Child) akar, bu da uygulamanın takibini ve hata ayıklamasını (</a:t>
            </a:r>
            <a:r>
              <a:rPr lang="tr-TR" sz="1500" err="1">
                <a:ea typeface="+mn-lt"/>
                <a:cs typeface="+mn-lt"/>
              </a:rPr>
              <a:t>debugging</a:t>
            </a:r>
            <a:r>
              <a:rPr lang="tr-TR" sz="1500">
                <a:ea typeface="+mn-lt"/>
                <a:cs typeface="+mn-lt"/>
              </a:rPr>
              <a:t>) kolaylaştırır.</a:t>
            </a:r>
            <a:endParaRPr lang="tr-TR" sz="1500"/>
          </a:p>
          <a:p>
            <a:pPr marL="285750" indent="-285750">
              <a:lnSpc>
                <a:spcPct val="115000"/>
              </a:lnSpc>
              <a:buFont typeface="Arial"/>
            </a:pPr>
            <a:endParaRPr lang="tr-TR" sz="15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F76036C-C247-4F63-AE7F-2ADB1D496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671579"/>
            <a:ext cx="4946649" cy="4792115"/>
            <a:chOff x="0" y="1671579"/>
            <a:chExt cx="4946649" cy="4792115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6E007C2-3152-4316-9102-D76C4E77F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4534" y="1671579"/>
              <a:ext cx="4792115" cy="4792115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97CD397-C9CD-43FA-ABEF-9C3530B00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115933"/>
              <a:ext cx="4320000" cy="43200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Gökkuşağı renkli yasaldan işletim sistemi">
            <a:extLst>
              <a:ext uri="{FF2B5EF4-FFF2-40B4-BE49-F238E27FC236}">
                <a16:creationId xmlns:a16="http://schemas.microsoft.com/office/drawing/2014/main" id="{A0E8BA51-0C3E-7AB6-B330-C9F1CAC93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65" r="22385"/>
          <a:stretch>
            <a:fillRect/>
          </a:stretch>
        </p:blipFill>
        <p:spPr>
          <a:xfrm>
            <a:off x="579025" y="2169113"/>
            <a:ext cx="4320000" cy="4320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508000"/>
          </a:effectLst>
        </p:spPr>
      </p:pic>
    </p:spTree>
    <p:extLst>
      <p:ext uri="{BB962C8B-B14F-4D97-AF65-F5344CB8AC3E}">
        <p14:creationId xmlns:p14="http://schemas.microsoft.com/office/powerpoint/2010/main" val="205078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5CE8CF-65BB-2025-D410-0C4482DD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422547"/>
          </a:xfrm>
        </p:spPr>
        <p:txBody>
          <a:bodyPr>
            <a:normAutofit fontScale="90000"/>
          </a:bodyPr>
          <a:lstStyle/>
          <a:p>
            <a:r>
              <a:rPr lang="tr-TR" err="1">
                <a:ea typeface="+mj-lt"/>
                <a:cs typeface="+mj-lt"/>
              </a:rPr>
              <a:t>App</a:t>
            </a:r>
            <a:r>
              <a:rPr lang="tr-TR" dirty="0">
                <a:ea typeface="+mj-lt"/>
                <a:cs typeface="+mj-lt"/>
              </a:rPr>
              <a:t> </a:t>
            </a:r>
            <a:r>
              <a:rPr lang="tr-TR" err="1">
                <a:ea typeface="+mj-lt"/>
                <a:cs typeface="+mj-lt"/>
              </a:rPr>
              <a:t>Router</a:t>
            </a:r>
            <a:r>
              <a:rPr lang="tr-TR" dirty="0">
                <a:ea typeface="+mj-lt"/>
                <a:cs typeface="+mj-lt"/>
              </a:rPr>
              <a:t>: Dosya Sisteminden Web Haritasına </a:t>
            </a:r>
            <a:r>
              <a:rPr lang="tr-TR" sz="1800" dirty="0">
                <a:ea typeface="+mj-lt"/>
                <a:cs typeface="+mj-lt"/>
              </a:rPr>
              <a:t>"</a:t>
            </a:r>
            <a:r>
              <a:rPr lang="tr-TR" sz="1800" err="1">
                <a:ea typeface="+mj-lt"/>
                <a:cs typeface="+mj-lt"/>
              </a:rPr>
              <a:t>Next.js'te</a:t>
            </a:r>
            <a:r>
              <a:rPr lang="tr-TR" sz="1800" dirty="0">
                <a:ea typeface="+mj-lt"/>
                <a:cs typeface="+mj-lt"/>
              </a:rPr>
              <a:t> klasör yapınız, web sitenizin URL haritasıdır."</a:t>
            </a:r>
            <a:endParaRPr lang="tr-TR" sz="1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FF5A40A-D586-2BEB-AAB9-0054069D2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2106216"/>
            <a:ext cx="11101136" cy="420250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/>
            <a:r>
              <a:rPr lang="tr-TR" b="1" dirty="0"/>
              <a:t>     Dosya Tabanlı Yönlendirme (File-</a:t>
            </a:r>
            <a:r>
              <a:rPr lang="tr-TR" b="1" dirty="0" err="1"/>
              <a:t>based</a:t>
            </a:r>
            <a:r>
              <a:rPr lang="tr-TR" b="1" dirty="0"/>
              <a:t> Routing)</a:t>
            </a:r>
            <a:endParaRPr lang="tr-TR" dirty="0"/>
          </a:p>
          <a:p>
            <a:pPr marL="727075" lvl="1" indent="-285750"/>
            <a:r>
              <a:rPr lang="tr-TR" b="1">
                <a:ea typeface="+mn-lt"/>
                <a:cs typeface="+mn-lt"/>
              </a:rPr>
              <a:t>Klasör = URL: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latin typeface="Consolas"/>
              </a:rPr>
              <a:t>app</a:t>
            </a:r>
            <a:r>
              <a:rPr lang="tr-TR">
                <a:latin typeface="Consolas"/>
              </a:rPr>
              <a:t>/</a:t>
            </a:r>
            <a:r>
              <a:rPr lang="tr-TR">
                <a:ea typeface="+mn-lt"/>
                <a:cs typeface="+mn-lt"/>
              </a:rPr>
              <a:t> klasörü altındaki her klasör bir rotayı temsil eder.</a:t>
            </a:r>
            <a:endParaRPr lang="tr-TR"/>
          </a:p>
          <a:p>
            <a:pPr marL="1176655" lvl="2" indent="-269875">
              <a:buFont typeface="Wingdings" panose="020B0604020202020204" pitchFamily="34" charset="0"/>
              <a:buChar char="§"/>
            </a:pPr>
            <a:r>
              <a:rPr lang="tr-TR" err="1">
                <a:latin typeface="Consolas"/>
              </a:rPr>
              <a:t>app</a:t>
            </a:r>
            <a:r>
              <a:rPr lang="tr-TR" dirty="0">
                <a:latin typeface="Consolas"/>
              </a:rPr>
              <a:t>/</a:t>
            </a:r>
            <a:r>
              <a:rPr lang="tr-TR" err="1">
                <a:latin typeface="Consolas"/>
              </a:rPr>
              <a:t>products</a:t>
            </a:r>
            <a:r>
              <a:rPr lang="tr-TR" dirty="0">
                <a:latin typeface="Consolas"/>
              </a:rPr>
              <a:t>/</a:t>
            </a:r>
            <a:r>
              <a:rPr lang="tr-TR" err="1">
                <a:latin typeface="Consolas"/>
              </a:rPr>
              <a:t>page.tsx</a:t>
            </a:r>
            <a:r>
              <a:rPr lang="tr-TR" dirty="0">
                <a:ea typeface="+mn-lt"/>
                <a:cs typeface="+mn-lt"/>
              </a:rPr>
              <a:t> → </a:t>
            </a:r>
            <a:r>
              <a:rPr lang="tr-TR" b="1" dirty="0">
                <a:ea typeface="+mn-lt"/>
                <a:cs typeface="+mn-lt"/>
                <a:hlinkClick r:id="rId2"/>
              </a:rPr>
              <a:t>domain.com/products</a:t>
            </a:r>
            <a:endParaRPr lang="tr-TR"/>
          </a:p>
          <a:p>
            <a:pPr marL="1176655" lvl="2" indent="-269875">
              <a:buFont typeface="Wingdings" panose="020B0604020202020204" pitchFamily="34" charset="0"/>
              <a:buChar char="§"/>
            </a:pPr>
            <a:r>
              <a:rPr lang="tr-TR" err="1">
                <a:latin typeface="Consolas"/>
              </a:rPr>
              <a:t>app</a:t>
            </a:r>
            <a:r>
              <a:rPr lang="tr-TR" dirty="0">
                <a:latin typeface="Consolas"/>
              </a:rPr>
              <a:t>/blog/[</a:t>
            </a:r>
            <a:r>
              <a:rPr lang="tr-TR" err="1">
                <a:latin typeface="Consolas"/>
              </a:rPr>
              <a:t>slug</a:t>
            </a:r>
            <a:r>
              <a:rPr lang="tr-TR" dirty="0">
                <a:latin typeface="Consolas"/>
              </a:rPr>
              <a:t>]/</a:t>
            </a:r>
            <a:r>
              <a:rPr lang="tr-TR" err="1">
                <a:latin typeface="Consolas"/>
              </a:rPr>
              <a:t>page.tsx</a:t>
            </a:r>
            <a:r>
              <a:rPr lang="tr-TR" dirty="0">
                <a:ea typeface="+mn-lt"/>
                <a:cs typeface="+mn-lt"/>
              </a:rPr>
              <a:t> → </a:t>
            </a:r>
            <a:r>
              <a:rPr lang="tr-TR" b="1" dirty="0">
                <a:ea typeface="+mn-lt"/>
                <a:cs typeface="+mn-lt"/>
                <a:hlinkClick r:id="rId3"/>
              </a:rPr>
              <a:t>domain.com/blog/makale-adi</a:t>
            </a:r>
            <a:r>
              <a:rPr lang="tr-TR" dirty="0">
                <a:ea typeface="+mn-lt"/>
                <a:cs typeface="+mn-lt"/>
              </a:rPr>
              <a:t> (Dinamik Rota)</a:t>
            </a:r>
            <a:endParaRPr lang="tr-TR"/>
          </a:p>
          <a:p>
            <a:pPr marL="727075" lvl="1" indent="-285750"/>
            <a:r>
              <a:rPr lang="tr-TR" b="1" dirty="0">
                <a:ea typeface="+mn-lt"/>
                <a:cs typeface="+mn-lt"/>
              </a:rPr>
              <a:t>Otomatik Gruplama: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React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Router</a:t>
            </a:r>
            <a:r>
              <a:rPr lang="tr-TR" dirty="0">
                <a:ea typeface="+mn-lt"/>
                <a:cs typeface="+mn-lt"/>
              </a:rPr>
              <a:t> gibi harici kütüphanelere ve karmaşık konfigürasyonlara ihtiyaç duymaz.</a:t>
            </a:r>
            <a:endParaRPr lang="tr-TR"/>
          </a:p>
          <a:p>
            <a:pPr marL="269875" indent="-269875"/>
            <a:r>
              <a:rPr lang="tr-TR" b="1" dirty="0" err="1"/>
              <a:t>Layout</a:t>
            </a:r>
            <a:r>
              <a:rPr lang="tr-TR" b="1" dirty="0"/>
              <a:t> &amp; </a:t>
            </a:r>
            <a:r>
              <a:rPr lang="tr-TR" b="1" dirty="0" err="1"/>
              <a:t>Page</a:t>
            </a:r>
            <a:r>
              <a:rPr lang="tr-TR" b="1" dirty="0"/>
              <a:t>: Tekrarı Önle, Performansı Artır</a:t>
            </a:r>
            <a:endParaRPr lang="tr-TR" dirty="0"/>
          </a:p>
          <a:p>
            <a:pPr marL="727075" lvl="1" indent="-285750"/>
            <a:r>
              <a:rPr lang="tr-TR" b="1" dirty="0">
                <a:latin typeface="Consolas"/>
              </a:rPr>
              <a:t>layout.js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Navbar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Sidebar</a:t>
            </a:r>
            <a:r>
              <a:rPr lang="tr-TR" dirty="0">
                <a:ea typeface="+mn-lt"/>
                <a:cs typeface="+mn-lt"/>
              </a:rPr>
              <a:t> veya </a:t>
            </a:r>
            <a:r>
              <a:rPr lang="tr-TR" err="1">
                <a:ea typeface="+mn-lt"/>
                <a:cs typeface="+mn-lt"/>
              </a:rPr>
              <a:t>Footer</a:t>
            </a:r>
            <a:r>
              <a:rPr lang="tr-TR" dirty="0">
                <a:ea typeface="+mn-lt"/>
                <a:cs typeface="+mn-lt"/>
              </a:rPr>
              <a:t> gibi tüm sayfalarda ortak olan bileşenleri bir kez tanımlarsınız.</a:t>
            </a:r>
            <a:endParaRPr lang="tr-TR" dirty="0"/>
          </a:p>
          <a:p>
            <a:pPr marL="727075" lvl="1" indent="-285750"/>
            <a:r>
              <a:rPr lang="tr-TR" b="1" dirty="0">
                <a:ea typeface="+mn-lt"/>
                <a:cs typeface="+mn-lt"/>
              </a:rPr>
              <a:t>Akıllı </a:t>
            </a:r>
            <a:r>
              <a:rPr lang="tr-TR" b="1" err="1">
                <a:ea typeface="+mn-lt"/>
                <a:cs typeface="+mn-lt"/>
              </a:rPr>
              <a:t>Render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Sayfa değişimlerinde sadece değişen </a:t>
            </a:r>
            <a:r>
              <a:rPr lang="tr-TR" dirty="0">
                <a:latin typeface="Consolas"/>
              </a:rPr>
              <a:t>page.js</a:t>
            </a:r>
            <a:r>
              <a:rPr lang="tr-TR" dirty="0">
                <a:ea typeface="+mn-lt"/>
                <a:cs typeface="+mn-lt"/>
              </a:rPr>
              <a:t> içeriği güncellenir, ortak </a:t>
            </a:r>
            <a:r>
              <a:rPr lang="tr-TR" err="1">
                <a:latin typeface="Consolas"/>
              </a:rPr>
              <a:t>layout</a:t>
            </a:r>
            <a:r>
              <a:rPr lang="tr-TR" dirty="0">
                <a:ea typeface="+mn-lt"/>
                <a:cs typeface="+mn-lt"/>
              </a:rPr>
              <a:t> bileşenleri sabit kalır ve gereksiz yere tekrar </a:t>
            </a:r>
            <a:r>
              <a:rPr lang="tr-TR" err="1">
                <a:ea typeface="+mn-lt"/>
                <a:cs typeface="+mn-lt"/>
              </a:rPr>
              <a:t>render</a:t>
            </a:r>
            <a:r>
              <a:rPr lang="tr-TR" dirty="0">
                <a:ea typeface="+mn-lt"/>
                <a:cs typeface="+mn-lt"/>
              </a:rPr>
              <a:t> edilmez.</a:t>
            </a:r>
            <a:endParaRPr lang="tr-TR" dirty="0"/>
          </a:p>
          <a:p>
            <a:pPr marL="269875" indent="-269875"/>
            <a:r>
              <a:rPr lang="tr-TR" b="1" dirty="0"/>
              <a:t>Zarif Hata ve Yükleme Yönetimi (Special </a:t>
            </a:r>
            <a:r>
              <a:rPr lang="tr-TR" b="1" dirty="0" err="1"/>
              <a:t>Files</a:t>
            </a:r>
            <a:r>
              <a:rPr lang="tr-TR" b="1" dirty="0"/>
              <a:t>)</a:t>
            </a:r>
            <a:endParaRPr lang="tr-TR" dirty="0"/>
          </a:p>
          <a:p>
            <a:pPr marL="727075" lvl="1" indent="-285750"/>
            <a:r>
              <a:rPr lang="tr-TR" dirty="0">
                <a:ea typeface="+mn-lt"/>
                <a:cs typeface="+mn-lt"/>
              </a:rPr>
              <a:t>Next.js, kullanıcı deneyimini kontrol etmek için özel dosya isimleri sunar:</a:t>
            </a:r>
            <a:endParaRPr lang="tr-TR" dirty="0"/>
          </a:p>
          <a:p>
            <a:pPr marL="727075" lvl="1" indent="-285750"/>
            <a:r>
              <a:rPr lang="tr-TR" b="1" dirty="0">
                <a:latin typeface="Consolas"/>
              </a:rPr>
              <a:t>loading.js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Veri yüklenirken otomatik olarak gösterilen Skeleton veya </a:t>
            </a:r>
            <a:r>
              <a:rPr lang="tr-TR" err="1">
                <a:ea typeface="+mn-lt"/>
                <a:cs typeface="+mn-lt"/>
              </a:rPr>
              <a:t>Spinner</a:t>
            </a:r>
            <a:r>
              <a:rPr lang="tr-TR" dirty="0">
                <a:ea typeface="+mn-lt"/>
                <a:cs typeface="+mn-lt"/>
              </a:rPr>
              <a:t> ekranı.</a:t>
            </a:r>
            <a:endParaRPr lang="tr-TR" dirty="0"/>
          </a:p>
          <a:p>
            <a:pPr marL="727075" lvl="1" indent="-285750"/>
            <a:r>
              <a:rPr lang="tr-TR" b="1" dirty="0">
                <a:latin typeface="Consolas"/>
              </a:rPr>
              <a:t>error.js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Beklenmedik bir hata oluştuğunda tüm sayfanın çökmesi yerine, sadece ilgili bölgeye bir "Tekrar Dene" butonu koymanızı sağlar.</a:t>
            </a:r>
            <a:endParaRPr lang="tr-TR" dirty="0"/>
          </a:p>
          <a:p>
            <a:pPr marL="727075" lvl="1" indent="-285750"/>
            <a:r>
              <a:rPr lang="tr-TR" b="1" dirty="0">
                <a:latin typeface="Consolas"/>
              </a:rPr>
              <a:t>not-found.js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404 sayfaları için özelleştirilmiş tasarım.</a:t>
            </a:r>
            <a:endParaRPr lang="tr-TR" dirty="0"/>
          </a:p>
          <a:p>
            <a:pPr marL="269875" indent="-269875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924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BA10581-08F2-4D9E-8CB4-07ECFEE9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E2092A-4250-4BDD-AC6C-CA57E30D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266875" cy="6858000"/>
            <a:chOff x="0" y="0"/>
            <a:chExt cx="7266875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A1EE7D2-EB27-4C6C-8E54-CBCDDCA17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600"/>
              <a:ext cx="7266875" cy="6854400"/>
            </a:xfrm>
            <a:custGeom>
              <a:avLst/>
              <a:gdLst>
                <a:gd name="connsiteX0" fmla="*/ 3839675 w 7266875"/>
                <a:gd name="connsiteY0" fmla="*/ 0 h 6854400"/>
                <a:gd name="connsiteX1" fmla="*/ 7266875 w 7266875"/>
                <a:gd name="connsiteY1" fmla="*/ 3427200 h 6854400"/>
                <a:gd name="connsiteX2" fmla="*/ 3839675 w 7266875"/>
                <a:gd name="connsiteY2" fmla="*/ 6854400 h 6854400"/>
                <a:gd name="connsiteX3" fmla="*/ 3489264 w 7266875"/>
                <a:gd name="connsiteY3" fmla="*/ 6836706 h 6854400"/>
                <a:gd name="connsiteX4" fmla="*/ 3327588 w 7266875"/>
                <a:gd name="connsiteY4" fmla="*/ 6816161 h 6854400"/>
                <a:gd name="connsiteX5" fmla="*/ 3174464 w 7266875"/>
                <a:gd name="connsiteY5" fmla="*/ 6839531 h 6854400"/>
                <a:gd name="connsiteX6" fmla="*/ 2880000 w 7266875"/>
                <a:gd name="connsiteY6" fmla="*/ 6854400 h 6854400"/>
                <a:gd name="connsiteX7" fmla="*/ 0 w 7266875"/>
                <a:gd name="connsiteY7" fmla="*/ 3974400 h 6854400"/>
                <a:gd name="connsiteX8" fmla="*/ 226325 w 7266875"/>
                <a:gd name="connsiteY8" fmla="*/ 2853374 h 6854400"/>
                <a:gd name="connsiteX9" fmla="*/ 258015 w 7266875"/>
                <a:gd name="connsiteY9" fmla="*/ 2787590 h 6854400"/>
                <a:gd name="connsiteX10" fmla="*/ 224445 w 7266875"/>
                <a:gd name="connsiteY10" fmla="*/ 2657030 h 6854400"/>
                <a:gd name="connsiteX11" fmla="*/ 180561 w 7266875"/>
                <a:gd name="connsiteY11" fmla="*/ 2221714 h 6854400"/>
                <a:gd name="connsiteX12" fmla="*/ 2340561 w 7266875"/>
                <a:gd name="connsiteY12" fmla="*/ 61714 h 6854400"/>
                <a:gd name="connsiteX13" fmla="*/ 2828370 w 7266875"/>
                <a:gd name="connsiteY13" fmla="*/ 117025 h 6854400"/>
                <a:gd name="connsiteX14" fmla="*/ 2891183 w 7266875"/>
                <a:gd name="connsiteY14" fmla="*/ 134017 h 6854400"/>
                <a:gd name="connsiteX15" fmla="*/ 2983165 w 7266875"/>
                <a:gd name="connsiteY15" fmla="*/ 107897 h 6854400"/>
                <a:gd name="connsiteX16" fmla="*/ 3839675 w 7266875"/>
                <a:gd name="connsiteY16" fmla="*/ 0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6875" h="6854400">
                  <a:moveTo>
                    <a:pt x="3839675" y="0"/>
                  </a:moveTo>
                  <a:cubicBezTo>
                    <a:pt x="5732465" y="0"/>
                    <a:pt x="7266875" y="1534410"/>
                    <a:pt x="7266875" y="3427200"/>
                  </a:cubicBezTo>
                  <a:cubicBezTo>
                    <a:pt x="7266875" y="5319990"/>
                    <a:pt x="5732465" y="6854400"/>
                    <a:pt x="3839675" y="6854400"/>
                  </a:cubicBezTo>
                  <a:cubicBezTo>
                    <a:pt x="3721376" y="6854400"/>
                    <a:pt x="3604476" y="6848406"/>
                    <a:pt x="3489264" y="6836706"/>
                  </a:cubicBezTo>
                  <a:lnTo>
                    <a:pt x="3327588" y="6816161"/>
                  </a:lnTo>
                  <a:lnTo>
                    <a:pt x="3174464" y="6839531"/>
                  </a:lnTo>
                  <a:cubicBezTo>
                    <a:pt x="3077646" y="6849363"/>
                    <a:pt x="2979412" y="6854400"/>
                    <a:pt x="2880000" y="6854400"/>
                  </a:cubicBezTo>
                  <a:cubicBezTo>
                    <a:pt x="1289420" y="6854400"/>
                    <a:pt x="0" y="5564980"/>
                    <a:pt x="0" y="3974400"/>
                  </a:cubicBezTo>
                  <a:cubicBezTo>
                    <a:pt x="0" y="3576755"/>
                    <a:pt x="80589" y="3197933"/>
                    <a:pt x="226325" y="2853374"/>
                  </a:cubicBezTo>
                  <a:lnTo>
                    <a:pt x="258015" y="2787590"/>
                  </a:lnTo>
                  <a:lnTo>
                    <a:pt x="224445" y="2657030"/>
                  </a:lnTo>
                  <a:cubicBezTo>
                    <a:pt x="195672" y="2516419"/>
                    <a:pt x="180561" y="2370831"/>
                    <a:pt x="180561" y="2221714"/>
                  </a:cubicBezTo>
                  <a:cubicBezTo>
                    <a:pt x="180561" y="1028779"/>
                    <a:pt x="1147626" y="61714"/>
                    <a:pt x="2340561" y="61714"/>
                  </a:cubicBezTo>
                  <a:cubicBezTo>
                    <a:pt x="2508318" y="61714"/>
                    <a:pt x="2671608" y="80838"/>
                    <a:pt x="2828370" y="117025"/>
                  </a:cubicBezTo>
                  <a:lnTo>
                    <a:pt x="2891183" y="134017"/>
                  </a:lnTo>
                  <a:lnTo>
                    <a:pt x="2983165" y="107897"/>
                  </a:lnTo>
                  <a:cubicBezTo>
                    <a:pt x="3256928" y="37461"/>
                    <a:pt x="3543927" y="0"/>
                    <a:pt x="3839675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73CF8FD-0917-4279-B6E7-120EE392F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94400"/>
              <a:ext cx="5760000" cy="576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3A3FA15-CF3D-4F2B-BB5C-18E5DB305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0561" y="61714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776AED5-83E6-4A3D-B609-7CCABAD4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75" y="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AA141598-796D-52AE-0274-98B474A1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0" y="833015"/>
            <a:ext cx="5193960" cy="52020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Çalışma Alanı: Client vs. Server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E4BF97-B05D-B3A8-89CE-2557FDE2A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83797" y="540347"/>
            <a:ext cx="4757340" cy="576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5875" indent="-285750"/>
            <a:r>
              <a:rPr lang="en-US" b="1" dirty="0"/>
              <a:t>React (Pure Client-Side):</a:t>
            </a:r>
            <a:r>
              <a:rPr lang="en-US" dirty="0"/>
              <a:t> Kodun         </a:t>
            </a:r>
            <a:r>
              <a:rPr lang="en-US" dirty="0" err="1"/>
              <a:t>tamamı</a:t>
            </a:r>
            <a:r>
              <a:rPr lang="en-US" dirty="0"/>
              <a:t> </a:t>
            </a:r>
            <a:r>
              <a:rPr lang="en-US" dirty="0" err="1"/>
              <a:t>tarayıcıya</a:t>
            </a:r>
            <a:r>
              <a:rPr lang="en-US" dirty="0"/>
              <a:t> </a:t>
            </a:r>
            <a:r>
              <a:rPr lang="en-US" dirty="0" err="1"/>
              <a:t>iner</a:t>
            </a:r>
            <a:r>
              <a:rPr lang="en-US" dirty="0"/>
              <a:t>. </a:t>
            </a:r>
            <a:r>
              <a:rPr lang="en-US" dirty="0" err="1"/>
              <a:t>Tarayıcı</a:t>
            </a:r>
            <a:r>
              <a:rPr lang="en-US" dirty="0"/>
              <a:t> (JavaScript) </a:t>
            </a:r>
            <a:r>
              <a:rPr lang="en-US" dirty="0" err="1"/>
              <a:t>sayfayı</a:t>
            </a:r>
            <a:r>
              <a:rPr lang="en-US" dirty="0"/>
              <a:t> </a:t>
            </a:r>
            <a:r>
              <a:rPr lang="en-US" dirty="0" err="1"/>
              <a:t>sıfırdan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risklidir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API </a:t>
            </a:r>
            <a:r>
              <a:rPr lang="en-US" dirty="0" err="1"/>
              <a:t>anahtarları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mantığı</a:t>
            </a:r>
            <a:r>
              <a:rPr lang="en-US" dirty="0"/>
              <a:t> (business logic) </a:t>
            </a:r>
            <a:r>
              <a:rPr lang="en-US" dirty="0" err="1"/>
              <a:t>tarayıcıya</a:t>
            </a:r>
            <a:r>
              <a:rPr lang="en-US" dirty="0"/>
              <a:t> </a:t>
            </a:r>
            <a:r>
              <a:rPr lang="en-US" dirty="0" err="1"/>
              <a:t>sızabilir</a:t>
            </a:r>
            <a:r>
              <a:rPr lang="en-US" dirty="0"/>
              <a:t>.</a:t>
            </a:r>
            <a:endParaRPr lang="tr-TR"/>
          </a:p>
          <a:p>
            <a:pPr marL="269875" indent="-285750"/>
            <a:r>
              <a:rPr lang="en-US" b="1" dirty="0"/>
              <a:t>Next.js (Server-First):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sunucuda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Next.js, </a:t>
            </a:r>
            <a:r>
              <a:rPr lang="en-US" dirty="0" err="1"/>
              <a:t>HTML'i</a:t>
            </a:r>
            <a:r>
              <a:rPr lang="en-US" dirty="0"/>
              <a:t> </a:t>
            </a:r>
            <a:r>
              <a:rPr lang="en-US" dirty="0" err="1"/>
              <a:t>sunucuda</a:t>
            </a:r>
            <a:r>
              <a:rPr lang="en-US" dirty="0"/>
              <a:t> "</a:t>
            </a:r>
            <a:r>
              <a:rPr lang="en-US" dirty="0" err="1"/>
              <a:t>pişirir</a:t>
            </a:r>
            <a:r>
              <a:rPr lang="en-US" dirty="0"/>
              <a:t>"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tarayıcıya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halini</a:t>
            </a:r>
            <a:r>
              <a:rPr lang="en-US" dirty="0"/>
              <a:t> </a:t>
            </a:r>
            <a:r>
              <a:rPr lang="en-US" dirty="0" err="1"/>
              <a:t>gönderir</a:t>
            </a:r>
            <a:r>
              <a:rPr lang="en-US" dirty="0"/>
              <a:t>.</a:t>
            </a:r>
          </a:p>
          <a:p>
            <a:pPr marL="269875" indent="-28575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11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79B177D-0769-ED88-4C6C-3CB1956B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759450"/>
          </a:xfrm>
        </p:spPr>
        <p:txBody>
          <a:bodyPr anchor="t">
            <a:normAutofit/>
          </a:bodyPr>
          <a:lstStyle/>
          <a:p>
            <a:r>
              <a:rPr lang="tr-TR" sz="8100">
                <a:ea typeface="+mj-lt"/>
                <a:cs typeface="+mj-lt"/>
              </a:rPr>
              <a:t>Güvenlik Duvarı (Server-Side Isolation)</a:t>
            </a:r>
            <a:endParaRPr lang="tr-TR" sz="8100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EB63AFED-50A4-313A-A146-C19CB33AD6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8918256"/>
              </p:ext>
            </p:extLst>
          </p:nvPr>
        </p:nvGraphicFramePr>
        <p:xfrm>
          <a:off x="5232400" y="540000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4729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B89655-06C8-41C2-A46A-0CA83F8B8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47E4D5-C9B2-4EBE-B61C-8779B538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8EE79C2C-6A8F-4C04-93F4-E70E4E6EB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D2E85C-8A74-4D69-9CE3-A4F5585D7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84F86B-F98F-4225-9238-BB254A94FA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67130A1-17AF-49F5-AE3A-AEB12135E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37697CF-3192-412A-922F-144889C50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9238514-DBDA-4E0D-901C-49A58D8E9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06C7DBB-1DE7-41D3-AD80-308DC0149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FF20D1-2FA9-49A6-BA1A-312C85C44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25C80E8-283A-445C-9242-3D816C339D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8E2446-B198-461A-A993-2DAA018E7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B76E018-D3DB-4222-BFF9-ADBDC9A0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7B820D0-357E-5CFB-D0CC-CF2F9E7D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912725"/>
          </a:xfrm>
        </p:spPr>
        <p:txBody>
          <a:bodyPr anchor="t">
            <a:normAutofit/>
          </a:bodyPr>
          <a:lstStyle/>
          <a:p>
            <a:r>
              <a:rPr lang="tr-TR" sz="6800">
                <a:ea typeface="+mj-lt"/>
                <a:cs typeface="+mj-lt"/>
              </a:rPr>
              <a:t>Static Site Generation (SSG)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291DE73-3D61-F5FC-A032-3D832625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5125"/>
            <a:ext cx="6408738" cy="57552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tr-TR" sz="1400" b="1" dirty="0">
                <a:ea typeface="+mn-lt"/>
                <a:cs typeface="+mn-lt"/>
              </a:rPr>
              <a:t> "Maksimum Hız: </a:t>
            </a:r>
            <a:r>
              <a:rPr lang="tr-TR" sz="1400" b="1" dirty="0" err="1">
                <a:ea typeface="+mn-lt"/>
                <a:cs typeface="+mn-lt"/>
              </a:rPr>
              <a:t>Build</a:t>
            </a:r>
            <a:r>
              <a:rPr lang="tr-TR" sz="1400" b="1" dirty="0">
                <a:ea typeface="+mn-lt"/>
                <a:cs typeface="+mn-lt"/>
              </a:rPr>
              <a:t> Anında Hazırlık"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>
                <a:ea typeface="+mn-lt"/>
                <a:cs typeface="+mn-lt"/>
              </a:rPr>
              <a:t>Mekanizma:</a:t>
            </a:r>
            <a:r>
              <a:rPr lang="tr-TR" sz="1400" dirty="0">
                <a:ea typeface="+mn-lt"/>
                <a:cs typeface="+mn-lt"/>
              </a:rPr>
              <a:t> Sayfalar uygulama yayına alınmadan önce (</a:t>
            </a:r>
            <a:r>
              <a:rPr lang="tr-TR" sz="1400" b="1" dirty="0" err="1">
                <a:ea typeface="+mn-lt"/>
                <a:cs typeface="+mn-lt"/>
              </a:rPr>
              <a:t>build</a:t>
            </a:r>
            <a:r>
              <a:rPr lang="tr-TR" sz="1400" dirty="0">
                <a:ea typeface="+mn-lt"/>
                <a:cs typeface="+mn-lt"/>
              </a:rPr>
              <a:t> aşamasında) bir kez oluşturulur ve HTML dosyası olarak sunucuya atılır.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>
                <a:ea typeface="+mn-lt"/>
                <a:cs typeface="+mn-lt"/>
              </a:rPr>
              <a:t>Çalışma Prensibi:</a:t>
            </a:r>
            <a:r>
              <a:rPr lang="tr-TR" sz="1400" dirty="0">
                <a:ea typeface="+mn-lt"/>
                <a:cs typeface="+mn-lt"/>
              </a:rPr>
              <a:t> Kullanıcı isteği geldiğinde sunucu hiçbir işlem yapmaz; hazır olan HTML dosyasını anında gönderir.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/>
              <a:t>✅ Avantajlar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>
                <a:ea typeface="+mn-lt"/>
                <a:cs typeface="+mn-lt"/>
              </a:rPr>
              <a:t>Işık Hızında Performans:</a:t>
            </a:r>
            <a:r>
              <a:rPr lang="tr-TR" sz="1400" dirty="0">
                <a:ea typeface="+mn-lt"/>
                <a:cs typeface="+mn-lt"/>
              </a:rPr>
              <a:t> Sunucuda </a:t>
            </a:r>
            <a:r>
              <a:rPr lang="tr-TR" sz="1400" dirty="0" err="1">
                <a:ea typeface="+mn-lt"/>
                <a:cs typeface="+mn-lt"/>
              </a:rPr>
              <a:t>render</a:t>
            </a:r>
            <a:r>
              <a:rPr lang="tr-TR" sz="1400" dirty="0">
                <a:ea typeface="+mn-lt"/>
                <a:cs typeface="+mn-lt"/>
              </a:rPr>
              <a:t> süresi sıfırdır.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>
                <a:ea typeface="+mn-lt"/>
                <a:cs typeface="+mn-lt"/>
              </a:rPr>
              <a:t>Güvenlik:</a:t>
            </a:r>
            <a:r>
              <a:rPr lang="tr-TR" sz="1400" dirty="0">
                <a:ea typeface="+mn-lt"/>
                <a:cs typeface="+mn-lt"/>
              </a:rPr>
              <a:t> Sayfa statik bir dosya olduğu için </a:t>
            </a:r>
            <a:r>
              <a:rPr lang="tr-TR" sz="1400" dirty="0" err="1">
                <a:ea typeface="+mn-lt"/>
                <a:cs typeface="+mn-lt"/>
              </a:rPr>
              <a:t>veritabanı</a:t>
            </a:r>
            <a:r>
              <a:rPr lang="tr-TR" sz="1400" dirty="0">
                <a:ea typeface="+mn-lt"/>
                <a:cs typeface="+mn-lt"/>
              </a:rPr>
              <a:t> bağlantısı veya </a:t>
            </a:r>
            <a:r>
              <a:rPr lang="tr-TR" sz="1400" dirty="0" err="1">
                <a:ea typeface="+mn-lt"/>
                <a:cs typeface="+mn-lt"/>
              </a:rPr>
              <a:t>backend</a:t>
            </a:r>
            <a:r>
              <a:rPr lang="tr-TR" sz="1400" dirty="0">
                <a:ea typeface="+mn-lt"/>
                <a:cs typeface="+mn-lt"/>
              </a:rPr>
              <a:t> sorgusu içermez, saldırı yüzeyi minimumdur.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>
                <a:ea typeface="+mn-lt"/>
                <a:cs typeface="+mn-lt"/>
              </a:rPr>
              <a:t>SEO:</a:t>
            </a:r>
            <a:r>
              <a:rPr lang="tr-TR" sz="1400" dirty="0">
                <a:ea typeface="+mn-lt"/>
                <a:cs typeface="+mn-lt"/>
              </a:rPr>
              <a:t> İçerik tam ve hazır olduğu için arama motorları tarafından mükemmel şekilde taranır.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/>
              <a:t>❌ Dezavantajlar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>
                <a:ea typeface="+mn-lt"/>
                <a:cs typeface="+mn-lt"/>
              </a:rPr>
              <a:t>Güncellik Sorunu:</a:t>
            </a:r>
            <a:r>
              <a:rPr lang="tr-TR" sz="1400" dirty="0">
                <a:ea typeface="+mn-lt"/>
                <a:cs typeface="+mn-lt"/>
              </a:rPr>
              <a:t> Veri değiştiğinde (örneğin bir fiyat güncellendiğinde) tüm uygulamanın yeniden </a:t>
            </a:r>
            <a:r>
              <a:rPr lang="tr-TR" sz="1400" dirty="0" err="1">
                <a:ea typeface="+mn-lt"/>
                <a:cs typeface="+mn-lt"/>
              </a:rPr>
              <a:t>build</a:t>
            </a:r>
            <a:r>
              <a:rPr lang="tr-TR" sz="1400" dirty="0">
                <a:ea typeface="+mn-lt"/>
                <a:cs typeface="+mn-lt"/>
              </a:rPr>
              <a:t> edilmesi gerekir.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r>
              <a:rPr lang="tr-TR" sz="1400" b="1" dirty="0">
                <a:ea typeface="+mn-lt"/>
                <a:cs typeface="+mn-lt"/>
              </a:rPr>
              <a:t>Büyük Veri Setleri:</a:t>
            </a:r>
            <a:r>
              <a:rPr lang="tr-TR" sz="1400" dirty="0">
                <a:ea typeface="+mn-lt"/>
                <a:cs typeface="+mn-lt"/>
              </a:rPr>
              <a:t> 100.000 ürününüz varsa, </a:t>
            </a:r>
            <a:r>
              <a:rPr lang="tr-TR" sz="1400" dirty="0" err="1">
                <a:ea typeface="+mn-lt"/>
                <a:cs typeface="+mn-lt"/>
              </a:rPr>
              <a:t>build</a:t>
            </a:r>
            <a:r>
              <a:rPr lang="tr-TR" sz="1400" dirty="0">
                <a:ea typeface="+mn-lt"/>
                <a:cs typeface="+mn-lt"/>
              </a:rPr>
              <a:t> süresi saatler sürebilir.</a:t>
            </a:r>
            <a:endParaRPr lang="tr-TR" sz="1400" dirty="0"/>
          </a:p>
          <a:p>
            <a:pPr marL="269875" indent="-269875">
              <a:lnSpc>
                <a:spcPct val="115000"/>
              </a:lnSpc>
            </a:pPr>
            <a:endParaRPr lang="tr-TR" sz="1400"/>
          </a:p>
        </p:txBody>
      </p:sp>
    </p:spTree>
    <p:extLst>
      <p:ext uri="{BB962C8B-B14F-4D97-AF65-F5344CB8AC3E}">
        <p14:creationId xmlns:p14="http://schemas.microsoft.com/office/powerpoint/2010/main" val="2921361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D6BFC9-4D79-0CBE-7DFA-42C658C4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261145"/>
          </a:xfrm>
        </p:spPr>
        <p:txBody>
          <a:bodyPr>
            <a:normAutofit fontScale="90000"/>
          </a:bodyPr>
          <a:lstStyle/>
          <a:p>
            <a:r>
              <a:rPr lang="tr-TR" dirty="0" err="1">
                <a:ea typeface="+mj-lt"/>
                <a:cs typeface="+mj-lt"/>
              </a:rPr>
              <a:t>Incremental</a:t>
            </a:r>
            <a:r>
              <a:rPr lang="tr-TR" dirty="0">
                <a:ea typeface="+mj-lt"/>
                <a:cs typeface="+mj-lt"/>
              </a:rPr>
              <a:t> </a:t>
            </a:r>
            <a:r>
              <a:rPr lang="tr-TR" dirty="0" err="1">
                <a:ea typeface="+mj-lt"/>
                <a:cs typeface="+mj-lt"/>
              </a:rPr>
              <a:t>Static</a:t>
            </a:r>
            <a:r>
              <a:rPr lang="tr-TR" dirty="0">
                <a:ea typeface="+mj-lt"/>
                <a:cs typeface="+mj-lt"/>
              </a:rPr>
              <a:t> </a:t>
            </a:r>
            <a:r>
              <a:rPr lang="tr-TR" dirty="0" err="1">
                <a:ea typeface="+mj-lt"/>
                <a:cs typeface="+mj-lt"/>
              </a:rPr>
              <a:t>Regeneration</a:t>
            </a:r>
            <a:r>
              <a:rPr lang="tr-TR" dirty="0">
                <a:ea typeface="+mj-lt"/>
                <a:cs typeface="+mj-lt"/>
              </a:rPr>
              <a:t> (ISR)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F2546D-8DBB-955C-33CE-C2B30A10C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2051747"/>
            <a:ext cx="11101136" cy="425697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/>
            <a:r>
              <a:rPr lang="tr-TR" b="1" dirty="0">
                <a:ea typeface="+mn-lt"/>
                <a:cs typeface="+mn-lt"/>
              </a:rPr>
              <a:t>"</a:t>
            </a:r>
            <a:r>
              <a:rPr lang="tr-TR" b="1" dirty="0" err="1">
                <a:ea typeface="+mn-lt"/>
                <a:cs typeface="+mn-lt"/>
              </a:rPr>
              <a:t>Next.js'in</a:t>
            </a:r>
            <a:r>
              <a:rPr lang="tr-TR" b="1" dirty="0">
                <a:ea typeface="+mn-lt"/>
                <a:cs typeface="+mn-lt"/>
              </a:rPr>
              <a:t> Sihirli Değneği: Hibrit Çözüm"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Mekanizma:</a:t>
            </a:r>
            <a:r>
              <a:rPr lang="tr-TR" dirty="0">
                <a:ea typeface="+mn-lt"/>
                <a:cs typeface="+mn-lt"/>
              </a:rPr>
              <a:t> Statik sayfaların (SSG), tüm siteyi yeniden </a:t>
            </a:r>
            <a:r>
              <a:rPr lang="tr-TR" dirty="0" err="1">
                <a:ea typeface="+mn-lt"/>
                <a:cs typeface="+mn-lt"/>
              </a:rPr>
              <a:t>build</a:t>
            </a:r>
            <a:r>
              <a:rPr lang="tr-TR" dirty="0">
                <a:ea typeface="+mn-lt"/>
                <a:cs typeface="+mn-lt"/>
              </a:rPr>
              <a:t> etmeden, arka planda belirli aralıklarla güncellenmesini sağlar.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Çalışma Prensibi: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latin typeface="Consolas"/>
              </a:rPr>
              <a:t>revalidate</a:t>
            </a:r>
            <a:r>
              <a:rPr lang="tr-TR" dirty="0">
                <a:ea typeface="+mn-lt"/>
                <a:cs typeface="+mn-lt"/>
              </a:rPr>
              <a:t> parametresi kullanılır. Örneğin: </a:t>
            </a:r>
            <a:r>
              <a:rPr lang="tr-TR" dirty="0" err="1">
                <a:latin typeface="Consolas"/>
              </a:rPr>
              <a:t>revalidate</a:t>
            </a:r>
            <a:r>
              <a:rPr lang="tr-TR" dirty="0">
                <a:latin typeface="Consolas"/>
              </a:rPr>
              <a:t>: 60</a:t>
            </a:r>
            <a:r>
              <a:rPr lang="tr-TR" dirty="0">
                <a:ea typeface="+mn-lt"/>
                <a:cs typeface="+mn-lt"/>
              </a:rPr>
              <a:t> derseniz, Next.js sayfayı 60 saniyede bir güncel olup olmadığını kontrol eder.</a:t>
            </a:r>
            <a:endParaRPr lang="tr-TR" dirty="0"/>
          </a:p>
          <a:p>
            <a:pPr marL="269875" indent="-269875"/>
            <a:r>
              <a:rPr lang="tr-TR" b="1" dirty="0"/>
              <a:t>✅ Neden Devrimsel?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Ölçeklenebilirlik:</a:t>
            </a:r>
            <a:r>
              <a:rPr lang="tr-TR" dirty="0">
                <a:ea typeface="+mn-lt"/>
                <a:cs typeface="+mn-lt"/>
              </a:rPr>
              <a:t> 1 milyon sayfanız olsa bile </a:t>
            </a:r>
            <a:r>
              <a:rPr lang="tr-TR" dirty="0" err="1">
                <a:ea typeface="+mn-lt"/>
                <a:cs typeface="+mn-lt"/>
              </a:rPr>
              <a:t>build</a:t>
            </a:r>
            <a:r>
              <a:rPr lang="tr-TR" dirty="0">
                <a:ea typeface="+mn-lt"/>
                <a:cs typeface="+mn-lt"/>
              </a:rPr>
              <a:t> süresini artırmaz; sayfalar talep geldikçe veya arka planda güncellenir.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Her Zaman Hızlı, Her Zaman Güncel:</a:t>
            </a:r>
            <a:r>
              <a:rPr lang="tr-TR" dirty="0">
                <a:ea typeface="+mn-lt"/>
                <a:cs typeface="+mn-lt"/>
              </a:rPr>
              <a:t> Kullanıcı statik sayfa hızını (SSG) alırken, içerik dinamik (SSR) gibi güncel kalır.</a:t>
            </a:r>
            <a:endParaRPr lang="tr-TR" dirty="0"/>
          </a:p>
          <a:p>
            <a:pPr marL="269875" indent="-269875"/>
            <a:r>
              <a:rPr lang="tr-TR" b="1" dirty="0">
                <a:ea typeface="+mn-lt"/>
                <a:cs typeface="+mn-lt"/>
              </a:rPr>
              <a:t>Yük Yönetimi: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Veritabanına</a:t>
            </a:r>
            <a:r>
              <a:rPr lang="tr-TR" dirty="0">
                <a:ea typeface="+mn-lt"/>
                <a:cs typeface="+mn-lt"/>
              </a:rPr>
              <a:t> saniyede binlerce istek yerine, sadece belirlenen süre dolduğunda bir kez gidilir.</a:t>
            </a:r>
            <a:endParaRPr lang="tr-TR" dirty="0"/>
          </a:p>
          <a:p>
            <a:pPr marL="269875" indent="-269875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476769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28" baseType="lpstr">
      <vt:lpstr>GlowVTI</vt:lpstr>
      <vt:lpstr>FRONTEND GİRİŞ</vt:lpstr>
      <vt:lpstr>BÖLÜM  1</vt:lpstr>
      <vt:lpstr>Web'in Evrimi</vt:lpstr>
      <vt:lpstr>Web 1.0  (The Read-Only Web): </vt:lpstr>
      <vt:lpstr>Web 2.0 (The Social/Participatory Web):</vt:lpstr>
      <vt:lpstr> </vt:lpstr>
      <vt:lpstr>Statik Web'den Dinamik Web'e: "Sayfa Yenileme" Devrinin Sonu</vt:lpstr>
      <vt:lpstr>JavaScript'in Yükselişi: Neden Framework?</vt:lpstr>
      <vt:lpstr>Web Devriminin Motoru: Tarayıcılar ve AJAX</vt:lpstr>
      <vt:lpstr>Bir Web site sayfasının  tarayıcıdaki DOM yapısı/ağacı</vt:lpstr>
      <vt:lpstr>JavaScript'in Katkısı: "Yardımcı Araç"tan "Ana Aktör"e</vt:lpstr>
      <vt:lpstr>BÖLÜM  2</vt:lpstr>
      <vt:lpstr>Yazılım Mimari Tiplerinde Frontend'in Yeri</vt:lpstr>
      <vt:lpstr>Monolith Mimari:   </vt:lpstr>
      <vt:lpstr>Microservices Mimari:</vt:lpstr>
      <vt:lpstr>BÖLÜM  3</vt:lpstr>
      <vt:lpstr>Rendering Stratejileri </vt:lpstr>
      <vt:lpstr>Client-Side Rendering (CSR)</vt:lpstr>
      <vt:lpstr>Server-Side Rendering (SSR)</vt:lpstr>
      <vt:lpstr>BÖLÜM  4</vt:lpstr>
      <vt:lpstr>Next.js: React'in Üzerindeki Güç</vt:lpstr>
      <vt:lpstr>Bileşen Tabanlı (Component-Based) Mimari</vt:lpstr>
      <vt:lpstr>App Router: Dosya Sisteminden Web Haritasına "Next.js'te klasör yapınız, web sitenizin URL haritasıdır."</vt:lpstr>
      <vt:lpstr>Çalışma Alanı: Client vs. Server</vt:lpstr>
      <vt:lpstr>Güvenlik Duvarı (Server-Side Isolation)</vt:lpstr>
      <vt:lpstr>Static Site Generation (SSG)</vt:lpstr>
      <vt:lpstr>Incremental Static Regeneration (ISR)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455</cp:revision>
  <dcterms:created xsi:type="dcterms:W3CDTF">2026-01-28T22:29:45Z</dcterms:created>
  <dcterms:modified xsi:type="dcterms:W3CDTF">2026-02-08T16:13:08Z</dcterms:modified>
</cp:coreProperties>
</file>